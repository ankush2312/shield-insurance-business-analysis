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6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9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0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302" r:id="rId6"/>
    <p:sldId id="301" r:id="rId7"/>
    <p:sldId id="304" r:id="rId8"/>
    <p:sldId id="306" r:id="rId9"/>
    <p:sldId id="261" r:id="rId10"/>
    <p:sldId id="307" r:id="rId11"/>
    <p:sldId id="279" r:id="rId12"/>
    <p:sldId id="309" r:id="rId13"/>
    <p:sldId id="310" r:id="rId14"/>
    <p:sldId id="314" r:id="rId15"/>
    <p:sldId id="311" r:id="rId16"/>
    <p:sldId id="312" r:id="rId17"/>
    <p:sldId id="31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542"/>
    <a:srgbClr val="0A1730"/>
    <a:srgbClr val="B3BEDF"/>
    <a:srgbClr val="2D4566"/>
    <a:srgbClr val="7991CE"/>
    <a:srgbClr val="C8D2E1"/>
    <a:srgbClr val="334D6A"/>
    <a:srgbClr val="FFFFFF"/>
    <a:srgbClr val="8FAADC"/>
    <a:srgbClr val="3358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826" autoAdjust="0"/>
  </p:normalViewPr>
  <p:slideViewPr>
    <p:cSldViewPr snapToGrid="0" showGuides="1">
      <p:cViewPr varScale="1">
        <p:scale>
          <a:sx n="82" d="100"/>
          <a:sy n="82" d="100"/>
        </p:scale>
        <p:origin x="557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553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939577792133598E-2"/>
          <c:y val="0.16085627448849799"/>
          <c:w val="0.8723735697722157"/>
          <c:h val="0.7260000712951947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chemeClr val="accent1">
                  <a:tint val="77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tint val="77000"/>
                </a:schemeClr>
              </a:solidFill>
              <a:ln w="9525">
                <a:solidFill>
                  <a:schemeClr val="accent1">
                    <a:tint val="77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Nov_22</c:v>
                </c:pt>
                <c:pt idx="1">
                  <c:v>Dec_22</c:v>
                </c:pt>
                <c:pt idx="2">
                  <c:v>Jan_23</c:v>
                </c:pt>
                <c:pt idx="3">
                  <c:v>Feb_23</c:v>
                </c:pt>
                <c:pt idx="4">
                  <c:v>Mar_23</c:v>
                </c:pt>
                <c:pt idx="5">
                  <c:v>Apr_23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132</c:v>
                </c:pt>
                <c:pt idx="1">
                  <c:v>156</c:v>
                </c:pt>
                <c:pt idx="2">
                  <c:v>141</c:v>
                </c:pt>
                <c:pt idx="3">
                  <c:v>143</c:v>
                </c:pt>
                <c:pt idx="4">
                  <c:v>264</c:v>
                </c:pt>
                <c:pt idx="5">
                  <c:v>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1E-41DF-BA61-76336B233D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</c:v>
                </c:pt>
              </c:strCache>
            </c:strRef>
          </c:tx>
          <c:spPr>
            <a:ln w="28575" cap="rnd">
              <a:solidFill>
                <a:schemeClr val="accent1">
                  <a:shade val="76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shade val="76000"/>
                </a:schemeClr>
              </a:solidFill>
              <a:ln w="9525">
                <a:solidFill>
                  <a:schemeClr val="accent1">
                    <a:shade val="76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Nov_22</c:v>
                </c:pt>
                <c:pt idx="1">
                  <c:v>Dec_22</c:v>
                </c:pt>
                <c:pt idx="2">
                  <c:v>Jan_23</c:v>
                </c:pt>
                <c:pt idx="3">
                  <c:v>Feb_23</c:v>
                </c:pt>
                <c:pt idx="4">
                  <c:v>Mar_23</c:v>
                </c:pt>
                <c:pt idx="5">
                  <c:v>Apr_23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37.869999999999997</c:v>
                </c:pt>
                <c:pt idx="1">
                  <c:v>40.200000000000003</c:v>
                </c:pt>
                <c:pt idx="2">
                  <c:v>39.19</c:v>
                </c:pt>
                <c:pt idx="3">
                  <c:v>38.85</c:v>
                </c:pt>
                <c:pt idx="4">
                  <c:v>70.81</c:v>
                </c:pt>
                <c:pt idx="5">
                  <c:v>41.49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36-46ED-AC7C-57EC6EAA44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0574256"/>
        <c:axId val="1060573296"/>
      </c:lineChart>
      <c:catAx>
        <c:axId val="1060574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8FAAD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573296"/>
        <c:crosses val="autoZero"/>
        <c:auto val="1"/>
        <c:lblAlgn val="ctr"/>
        <c:lblOffset val="100"/>
        <c:noMultiLvlLbl val="0"/>
      </c:catAx>
      <c:valAx>
        <c:axId val="10605732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44678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574256"/>
        <c:crosses val="autoZero"/>
        <c:crossBetween val="between"/>
      </c:valAx>
      <c:spPr>
        <a:solidFill>
          <a:srgbClr val="122542"/>
        </a:solidFill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242566470668658"/>
          <c:y val="5.4117050492912586E-2"/>
          <c:w val="0.38141024079159702"/>
          <c:h val="5.54607789253273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rgbClr val="8FAADC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122542"/>
    </a:solidFill>
    <a:ln cap="sq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8FAADC"/>
                </a:solidFill>
                <a:latin typeface="+mn-lt"/>
                <a:ea typeface="+mn-ea"/>
                <a:cs typeface="+mn-cs"/>
              </a:defRPr>
            </a:pPr>
            <a:r>
              <a:rPr lang="en-IN" sz="1100" dirty="0">
                <a:solidFill>
                  <a:srgbClr val="8FAADC"/>
                </a:solidFill>
                <a:latin typeface="+mj-lt"/>
              </a:rPr>
              <a:t>Revenue and Customer</a:t>
            </a:r>
            <a:r>
              <a:rPr lang="en-IN" sz="1100" baseline="0" dirty="0">
                <a:solidFill>
                  <a:srgbClr val="8FAADC"/>
                </a:solidFill>
                <a:latin typeface="+mj-lt"/>
              </a:rPr>
              <a:t> by Age Group</a:t>
            </a:r>
            <a:endParaRPr lang="en-IN" sz="1100" dirty="0">
              <a:solidFill>
                <a:srgbClr val="8FAADC"/>
              </a:solidFill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8FAADC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>
                <a:alpha val="69804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ECBB-4CD1-B2E4-DDA32F48490F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ECBB-4CD1-B2E4-DDA32F48490F}"/>
              </c:ext>
            </c:extLst>
          </c:dPt>
          <c:dPt>
            <c:idx val="2"/>
            <c:invertIfNegative val="0"/>
            <c:bubble3D val="0"/>
            <c:spPr>
              <a:solidFill>
                <a:srgbClr val="4472C4"/>
              </a:solidFill>
              <a:ln w="15875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ECBB-4CD1-B2E4-DDA32F48490F}"/>
              </c:ext>
            </c:extLst>
          </c:dPt>
          <c:dPt>
            <c:idx val="3"/>
            <c:invertIfNegative val="0"/>
            <c:bubble3D val="0"/>
            <c:spPr>
              <a:solidFill>
                <a:srgbClr val="4472C4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CBB-4CD1-B2E4-DDA32F48490F}"/>
              </c:ext>
            </c:extLst>
          </c:dPt>
          <c:dPt>
            <c:idx val="4"/>
            <c:invertIfNegative val="0"/>
            <c:bubble3D val="0"/>
            <c:spPr>
              <a:solidFill>
                <a:srgbClr val="4472C4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CBB-4CD1-B2E4-DDA32F48490F}"/>
              </c:ext>
            </c:extLst>
          </c:dPt>
          <c:dPt>
            <c:idx val="5"/>
            <c:invertIfNegative val="0"/>
            <c:bubble3D val="0"/>
            <c:spPr>
              <a:solidFill>
                <a:srgbClr val="4472C4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CBB-4CD1-B2E4-DDA32F48490F}"/>
              </c:ext>
            </c:extLst>
          </c:dPt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25-30</c:v>
                </c:pt>
                <c:pt idx="2">
                  <c:v>31-40</c:v>
                </c:pt>
                <c:pt idx="3">
                  <c:v>41-50</c:v>
                </c:pt>
                <c:pt idx="4">
                  <c:v>51-65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2.21</c:v>
                </c:pt>
                <c:pt idx="1">
                  <c:v>5.36</c:v>
                </c:pt>
                <c:pt idx="2">
                  <c:v>29.82</c:v>
                </c:pt>
                <c:pt idx="3">
                  <c:v>24.18</c:v>
                </c:pt>
                <c:pt idx="4">
                  <c:v>17.25</c:v>
                </c:pt>
                <c:pt idx="5">
                  <c:v>21.16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BB-4CD1-B2E4-DDA32F4849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8FAADC">
                <a:alpha val="69804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FAADC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CBB-4CD1-B2E4-DDA32F48490F}"/>
              </c:ext>
            </c:extLst>
          </c:dPt>
          <c:dPt>
            <c:idx val="1"/>
            <c:invertIfNegative val="0"/>
            <c:bubble3D val="0"/>
            <c:spPr>
              <a:solidFill>
                <a:srgbClr val="8FAADC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CBB-4CD1-B2E4-DDA32F48490F}"/>
              </c:ext>
            </c:extLst>
          </c:dPt>
          <c:dPt>
            <c:idx val="2"/>
            <c:invertIfNegative val="0"/>
            <c:bubble3D val="0"/>
            <c:spPr>
              <a:solidFill>
                <a:srgbClr val="8FAADC"/>
              </a:solidFill>
              <a:ln w="15875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BB-4CD1-B2E4-DDA32F48490F}"/>
              </c:ext>
            </c:extLst>
          </c:dPt>
          <c:dPt>
            <c:idx val="3"/>
            <c:invertIfNegative val="0"/>
            <c:bubble3D val="0"/>
            <c:spPr>
              <a:solidFill>
                <a:srgbClr val="8FAADC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ECBB-4CD1-B2E4-DDA32F48490F}"/>
              </c:ext>
            </c:extLst>
          </c:dPt>
          <c:dPt>
            <c:idx val="4"/>
            <c:invertIfNegative val="0"/>
            <c:bubble3D val="0"/>
            <c:spPr>
              <a:solidFill>
                <a:srgbClr val="8FAADC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ECBB-4CD1-B2E4-DDA32F48490F}"/>
              </c:ext>
            </c:extLst>
          </c:dPt>
          <c:dPt>
            <c:idx val="5"/>
            <c:invertIfNegative val="0"/>
            <c:bubble3D val="0"/>
            <c:spPr>
              <a:solidFill>
                <a:srgbClr val="8FAADC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ECBB-4CD1-B2E4-DDA32F48490F}"/>
              </c:ext>
            </c:extLst>
          </c:dPt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25-30</c:v>
                </c:pt>
                <c:pt idx="2">
                  <c:v>31-40</c:v>
                </c:pt>
                <c:pt idx="3">
                  <c:v>41-50</c:v>
                </c:pt>
                <c:pt idx="4">
                  <c:v>51-65</c:v>
                </c:pt>
                <c:pt idx="5">
                  <c:v>65+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6.08</c:v>
                </c:pt>
                <c:pt idx="1">
                  <c:v>11.34</c:v>
                </c:pt>
                <c:pt idx="2">
                  <c:v>37.729999999999997</c:v>
                </c:pt>
                <c:pt idx="3">
                  <c:v>24.14</c:v>
                </c:pt>
                <c:pt idx="4">
                  <c:v>12.03</c:v>
                </c:pt>
                <c:pt idx="5">
                  <c:v>8.68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BB-4CD1-B2E4-DDA32F4849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25-30</c:v>
                </c:pt>
                <c:pt idx="2">
                  <c:v>31-40</c:v>
                </c:pt>
                <c:pt idx="3">
                  <c:v>41-50</c:v>
                </c:pt>
                <c:pt idx="4">
                  <c:v>51-65</c:v>
                </c:pt>
                <c:pt idx="5">
                  <c:v>65+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ECBB-4CD1-B2E4-DDA32F4849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9"/>
        <c:axId val="475637696"/>
        <c:axId val="475638656"/>
      </c:barChart>
      <c:catAx>
        <c:axId val="4756376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8FAAD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638656"/>
        <c:crosses val="autoZero"/>
        <c:auto val="1"/>
        <c:lblAlgn val="ctr"/>
        <c:lblOffset val="100"/>
        <c:noMultiLvlLbl val="0"/>
      </c:catAx>
      <c:valAx>
        <c:axId val="475638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63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8FAADC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ARPC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8A4-4D01-91E1-5B7A91BC563E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8A4-4D01-91E1-5B7A91BC563E}"/>
              </c:ext>
            </c:extLst>
          </c:dPt>
          <c:dPt>
            <c:idx val="2"/>
            <c:invertIfNegative val="0"/>
            <c:bubble3D val="0"/>
            <c:spPr>
              <a:solidFill>
                <a:srgbClr val="4472C4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8A4-4D01-91E1-5B7A91BC563E}"/>
              </c:ext>
            </c:extLst>
          </c:dPt>
          <c:dPt>
            <c:idx val="3"/>
            <c:invertIfNegative val="0"/>
            <c:bubble3D val="0"/>
            <c:spPr>
              <a:solidFill>
                <a:srgbClr val="4472C4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8A4-4D01-91E1-5B7A91BC563E}"/>
              </c:ext>
            </c:extLst>
          </c:dPt>
          <c:dPt>
            <c:idx val="4"/>
            <c:invertIfNegative val="0"/>
            <c:bubble3D val="0"/>
            <c:spPr>
              <a:solidFill>
                <a:srgbClr val="4472C4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8A4-4D01-91E1-5B7A91BC563E}"/>
              </c:ext>
            </c:extLst>
          </c:dPt>
          <c:dPt>
            <c:idx val="5"/>
            <c:invertIfNegative val="0"/>
            <c:bubble3D val="0"/>
            <c:spPr>
              <a:solidFill>
                <a:srgbClr val="2BB3D6"/>
              </a:solidFill>
              <a:ln w="15875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88A4-4D01-91E1-5B7A91BC563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13.4k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8A4-4D01-91E1-5B7A91BC56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17.4k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8A4-4D01-91E1-5B7A91BC56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29.1k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8A4-4D01-91E1-5B7A91BC563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36.9k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8A4-4D01-91E1-5B7A91BC563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53.8k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8A4-4D01-91E1-5B7A91BC563E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rgbClr val="2BB3D6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 sz="1200" b="1" dirty="0">
                        <a:solidFill>
                          <a:srgbClr val="2BB3D6"/>
                        </a:solidFill>
                        <a:latin typeface="+mj-lt"/>
                      </a:rPr>
                      <a:t>89.8k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2BB3D6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8A4-4D01-91E1-5B7A91BC56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4472C4"/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25-30</c:v>
                </c:pt>
                <c:pt idx="2">
                  <c:v>31-40</c:v>
                </c:pt>
                <c:pt idx="3">
                  <c:v>41-50</c:v>
                </c:pt>
                <c:pt idx="4">
                  <c:v>51-65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13421</c:v>
                </c:pt>
                <c:pt idx="1">
                  <c:v>17426</c:v>
                </c:pt>
                <c:pt idx="2">
                  <c:v>29133</c:v>
                </c:pt>
                <c:pt idx="3">
                  <c:v>36921</c:v>
                </c:pt>
                <c:pt idx="4">
                  <c:v>52871</c:v>
                </c:pt>
                <c:pt idx="5">
                  <c:v>89854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A4-4D01-91E1-5B7A91BC5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58274896"/>
        <c:axId val="1158273936"/>
      </c:barChart>
      <c:catAx>
        <c:axId val="1158274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8FAAD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273936"/>
        <c:crosses val="autoZero"/>
        <c:auto val="1"/>
        <c:lblAlgn val="ctr"/>
        <c:lblOffset val="100"/>
        <c:noMultiLvlLbl val="0"/>
      </c:catAx>
      <c:valAx>
        <c:axId val="1158273936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8FAADC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dirty="0">
                    <a:solidFill>
                      <a:srgbClr val="8FAADC"/>
                    </a:solidFill>
                  </a:rPr>
                  <a:t>Average Revenue per</a:t>
                </a:r>
                <a:r>
                  <a:rPr lang="en-IN" sz="1200" baseline="0" dirty="0">
                    <a:solidFill>
                      <a:srgbClr val="8FAADC"/>
                    </a:solidFill>
                  </a:rPr>
                  <a:t> Customer (ARPC)</a:t>
                </a:r>
                <a:endParaRPr lang="en-IN" sz="1200" dirty="0">
                  <a:solidFill>
                    <a:srgbClr val="8FAADC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rgbClr val="8FAADC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crossAx val="1158274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8FAADC"/>
                </a:solidFill>
                <a:latin typeface="+mn-lt"/>
                <a:ea typeface="+mn-ea"/>
                <a:cs typeface="+mn-cs"/>
              </a:defRPr>
            </a:pPr>
            <a:r>
              <a:rPr lang="en-IN" sz="1400" dirty="0">
                <a:solidFill>
                  <a:srgbClr val="8FAADC"/>
                </a:solidFill>
              </a:rPr>
              <a:t>Average Settlement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8FAADC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3808340985670101"/>
          <c:y val="9.9316342750269987E-2"/>
          <c:w val="0.76596809880411143"/>
          <c:h val="0.8060252015354083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>
                  <a:alpha val="80000"/>
                </a:srgb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D91-4860-8E12-9B693565069A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>
                  <a:alpha val="8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D91-4860-8E12-9B693565069A}"/>
              </c:ext>
            </c:extLst>
          </c:dPt>
          <c:dPt>
            <c:idx val="2"/>
            <c:invertIfNegative val="0"/>
            <c:bubble3D val="0"/>
            <c:spPr>
              <a:solidFill>
                <a:srgbClr val="4472C4">
                  <a:alpha val="8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D91-4860-8E12-9B693565069A}"/>
              </c:ext>
            </c:extLst>
          </c:dPt>
          <c:dPt>
            <c:idx val="3"/>
            <c:invertIfNegative val="0"/>
            <c:bubble3D val="0"/>
            <c:spPr>
              <a:solidFill>
                <a:srgbClr val="4472C4">
                  <a:alpha val="8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D91-4860-8E12-9B693565069A}"/>
              </c:ext>
            </c:extLst>
          </c:dPt>
          <c:dPt>
            <c:idx val="4"/>
            <c:invertIfNegative val="0"/>
            <c:bubble3D val="0"/>
            <c:spPr>
              <a:solidFill>
                <a:srgbClr val="4472C4">
                  <a:alpha val="8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D91-4860-8E12-9B693565069A}"/>
              </c:ext>
            </c:extLst>
          </c:dPt>
          <c:dPt>
            <c:idx val="5"/>
            <c:invertIfNegative val="0"/>
            <c:bubble3D val="0"/>
            <c:spPr>
              <a:solidFill>
                <a:srgbClr val="00B0F0"/>
              </a:solidFill>
              <a:ln w="15875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D91-4860-8E12-9B693565069A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en-US" sz="1100" b="0" i="0" u="none" strike="noStrike" kern="1200" baseline="0" smtClean="0">
                        <a:solidFill>
                          <a:srgbClr val="AEC2D8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fld id="{9A2B1AE7-8689-4C91-A8A2-0961C96B5912}" type="VALUE">
                      <a:rPr lang="en-US" sz="1100" b="0" i="0" u="none" strike="noStrike" kern="1200" baseline="0" smtClean="0">
                        <a:solidFill>
                          <a:srgbClr val="AEC2D8"/>
                        </a:solidFill>
                        <a:latin typeface="+mj-lt"/>
                        <a:ea typeface="+mn-ea"/>
                        <a:cs typeface="+mn-cs"/>
                      </a:rPr>
                      <a:pPr algn="ctr" rtl="0">
                        <a:defRPr lang="en-US" sz="1100" smtClean="0">
                          <a:solidFill>
                            <a:srgbClr val="AEC2D8"/>
                          </a:solidFill>
                          <a:latin typeface="+mj-lt"/>
                        </a:defRPr>
                      </a:pPr>
                      <a:t>[VALUE]</a:t>
                    </a:fld>
                    <a:r>
                      <a:rPr lang="en-US" sz="1100" b="0" i="0" u="none" strike="noStrike" kern="1200" baseline="0">
                        <a:solidFill>
                          <a:srgbClr val="AEC2D8"/>
                        </a:solidFill>
                        <a:latin typeface="+mj-lt"/>
                        <a:ea typeface="+mn-ea"/>
                        <a:cs typeface="+mn-cs"/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100" b="0" i="0" u="none" strike="noStrike" kern="1200" baseline="0" smtClean="0">
                      <a:solidFill>
                        <a:srgbClr val="AEC2D8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D91-4860-8E12-9B69356506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F1DE2A6-D392-47C0-B872-82CC5AE250F9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D91-4860-8E12-9B69356506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5225939-0591-45FC-B814-8BD99E99DF0F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D91-4860-8E12-9B69356506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32F963A-2BA2-416C-8D04-2E3D9A2DAED5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FD91-4860-8E12-9B69356506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811FC7E-AF8E-4EEC-851E-51707F2D1CB7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D91-4860-8E12-9B693565069A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en-US" sz="1600" b="1" i="0" u="none" strike="noStrike" kern="1200" baseline="0" dirty="0" smtClean="0">
                        <a:solidFill>
                          <a:srgbClr val="00B0F0"/>
                        </a:solidFill>
                        <a:effectLst/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 sz="1600" b="1" i="0" u="none" strike="noStrike" kern="1200" baseline="0" dirty="0">
                        <a:solidFill>
                          <a:srgbClr val="00B0F0"/>
                        </a:solidFill>
                        <a:effectLst/>
                        <a:latin typeface="+mj-lt"/>
                        <a:ea typeface="+mn-ea"/>
                        <a:cs typeface="+mn-cs"/>
                      </a:rPr>
                      <a:t>74%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600" b="1" i="0" u="none" strike="noStrike" kern="1200" baseline="0" dirty="0" smtClean="0">
                      <a:solidFill>
                        <a:srgbClr val="00B0F0"/>
                      </a:solidFill>
                      <a:effectLst/>
                      <a:latin typeface="+mj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D91-4860-8E12-9B69356506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AEC2D8"/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25-30</c:v>
                </c:pt>
                <c:pt idx="2">
                  <c:v>31-40</c:v>
                </c:pt>
                <c:pt idx="3">
                  <c:v>41-50</c:v>
                </c:pt>
                <c:pt idx="4">
                  <c:v>51-65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46</c:v>
                </c:pt>
                <c:pt idx="2">
                  <c:v>54</c:v>
                </c:pt>
                <c:pt idx="3">
                  <c:v>61</c:v>
                </c:pt>
                <c:pt idx="4">
                  <c:v>65</c:v>
                </c:pt>
                <c:pt idx="5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D91-4860-8E12-9B69356506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820244416"/>
        <c:axId val="820243936"/>
      </c:barChart>
      <c:catAx>
        <c:axId val="8202444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8FAAD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0243936"/>
        <c:crosses val="autoZero"/>
        <c:auto val="1"/>
        <c:lblAlgn val="ctr"/>
        <c:lblOffset val="100"/>
        <c:noMultiLvlLbl val="0"/>
      </c:catAx>
      <c:valAx>
        <c:axId val="8202439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20244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8FAADC"/>
                </a:solidFill>
                <a:latin typeface="+mn-lt"/>
                <a:ea typeface="+mn-ea"/>
                <a:cs typeface="+mn-cs"/>
              </a:defRPr>
            </a:pPr>
            <a:r>
              <a:rPr lang="en-IN" sz="1100" dirty="0">
                <a:solidFill>
                  <a:srgbClr val="8FAADC"/>
                </a:solidFill>
                <a:latin typeface="+mj-lt"/>
              </a:rPr>
              <a:t>Revenue and Customer</a:t>
            </a:r>
            <a:r>
              <a:rPr lang="en-IN" sz="1100" baseline="0" dirty="0">
                <a:solidFill>
                  <a:srgbClr val="8FAADC"/>
                </a:solidFill>
                <a:latin typeface="+mj-lt"/>
              </a:rPr>
              <a:t> by Sales Mode</a:t>
            </a:r>
            <a:endParaRPr lang="en-IN" sz="1100" dirty="0">
              <a:solidFill>
                <a:srgbClr val="8FAADC"/>
              </a:solidFill>
              <a:latin typeface="+mj-lt"/>
            </a:endParaRPr>
          </a:p>
        </c:rich>
      </c:tx>
      <c:layout>
        <c:manualLayout>
          <c:xMode val="edge"/>
          <c:yMode val="edge"/>
          <c:x val="0.24169924437602916"/>
          <c:y val="2.54395110497286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8FAADC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22283620164266837"/>
          <c:y val="0.10813860438781156"/>
          <c:w val="0.61660118871320524"/>
          <c:h val="0.7373151344760181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>
                <a:alpha val="69804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  <a:ln w="15875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AA-49B6-A4DB-972A00926C29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AA-49B6-A4DB-972A00926C29}"/>
              </c:ext>
            </c:extLst>
          </c:dPt>
          <c:dPt>
            <c:idx val="2"/>
            <c:invertIfNegative val="0"/>
            <c:bubble3D val="0"/>
            <c:spPr>
              <a:solidFill>
                <a:srgbClr val="4472C4">
                  <a:alpha val="60000"/>
                </a:srgbClr>
              </a:solidFill>
              <a:ln w="158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AA-49B6-A4DB-972A00926C29}"/>
              </c:ext>
            </c:extLst>
          </c:dPt>
          <c:dPt>
            <c:idx val="3"/>
            <c:invertIfNegative val="0"/>
            <c:bubble3D val="0"/>
            <c:spPr>
              <a:solidFill>
                <a:srgbClr val="4472C4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AA-49B6-A4DB-972A00926C29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rgbClr val="4472C4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05B53A8-06F7-4202-B561-03F201943E7A}" type="VALUE">
                      <a:rPr lang="en-US" sz="1600" b="1" smtClean="0"/>
                      <a:pPr>
                        <a:defRPr sz="1600" b="1">
                          <a:solidFill>
                            <a:srgbClr val="4472C4"/>
                          </a:solidFill>
                        </a:defRPr>
                      </a:pPr>
                      <a:t>[VALUE]</a:t>
                    </a:fld>
                    <a:r>
                      <a:rPr lang="en-US" sz="1600" b="1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4472C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9AA-49B6-A4DB-972A00926C2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2786DFD-57D2-400F-8636-627B89A155BE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9AA-49B6-A4DB-972A00926C2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6CDE39C-E238-491A-9872-6FED21C03256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9AA-49B6-A4DB-972A00926C2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A7D2E95-F97C-421C-8AC5-BEB96A438422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C9AA-49B6-A4DB-972A00926C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4472C4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Offline-Agent</c:v>
                </c:pt>
                <c:pt idx="1">
                  <c:v>Offline-Direct</c:v>
                </c:pt>
                <c:pt idx="2">
                  <c:v>Online-App</c:v>
                </c:pt>
                <c:pt idx="3">
                  <c:v>Online-Website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55.7</c:v>
                </c:pt>
                <c:pt idx="1">
                  <c:v>15.7</c:v>
                </c:pt>
                <c:pt idx="2">
                  <c:v>16.100000000000001</c:v>
                </c:pt>
                <c:pt idx="3">
                  <c:v>12.4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9AA-49B6-A4DB-972A00926C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8FAADC">
                <a:alpha val="69804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FAADC"/>
              </a:solidFill>
              <a:ln w="15875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C9AA-49B6-A4DB-972A00926C29}"/>
              </c:ext>
            </c:extLst>
          </c:dPt>
          <c:dPt>
            <c:idx val="1"/>
            <c:invertIfNegative val="0"/>
            <c:bubble3D val="0"/>
            <c:spPr>
              <a:solidFill>
                <a:srgbClr val="8FAADC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C9AA-49B6-A4DB-972A00926C29}"/>
              </c:ext>
            </c:extLst>
          </c:dPt>
          <c:dPt>
            <c:idx val="2"/>
            <c:invertIfNegative val="0"/>
            <c:bubble3D val="0"/>
            <c:spPr>
              <a:solidFill>
                <a:srgbClr val="8FAADC">
                  <a:alpha val="60000"/>
                </a:srgbClr>
              </a:solidFill>
              <a:ln w="158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C9AA-49B6-A4DB-972A00926C29}"/>
              </c:ext>
            </c:extLst>
          </c:dPt>
          <c:dPt>
            <c:idx val="3"/>
            <c:invertIfNegative val="0"/>
            <c:bubble3D val="0"/>
            <c:spPr>
              <a:solidFill>
                <a:srgbClr val="8FAADC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C9AA-49B6-A4DB-972A00926C2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DF56133-E827-44A7-8EEB-9D17A0779CA6}" type="VALUE">
                      <a:rPr lang="en-US" sz="1600" b="1" smtClean="0"/>
                      <a:pPr/>
                      <a:t>[VALUE]</a:t>
                    </a:fld>
                    <a:r>
                      <a:rPr lang="en-US" sz="1600" b="1" dirty="0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C9AA-49B6-A4DB-972A00926C2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99661F9-FD78-42AE-8FBD-3F8885246D6E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0-C9AA-49B6-A4DB-972A00926C2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22D7827-0F7A-488B-B68D-B4E75B7D7537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2-C9AA-49B6-A4DB-972A00926C2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0E30209-3770-4A68-BF2D-4908E7773BA7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4-C9AA-49B6-A4DB-972A00926C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C8D2E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Offline-Agent</c:v>
                </c:pt>
                <c:pt idx="1">
                  <c:v>Offline-Direct</c:v>
                </c:pt>
                <c:pt idx="2">
                  <c:v>Online-App</c:v>
                </c:pt>
                <c:pt idx="3">
                  <c:v>Online-Website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55.5</c:v>
                </c:pt>
                <c:pt idx="1">
                  <c:v>15.9</c:v>
                </c:pt>
                <c:pt idx="2">
                  <c:v>16.100000000000001</c:v>
                </c:pt>
                <c:pt idx="3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C9AA-49B6-A4DB-972A00926C2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40"/>
        <c:axId val="475637696"/>
        <c:axId val="475638656"/>
      </c:barChart>
      <c:catAx>
        <c:axId val="47563769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C8D2E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638656"/>
        <c:crosses val="autoZero"/>
        <c:auto val="1"/>
        <c:lblAlgn val="ctr"/>
        <c:lblOffset val="100"/>
        <c:noMultiLvlLbl val="0"/>
      </c:catAx>
      <c:valAx>
        <c:axId val="4756386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high"/>
        <c:crossAx val="47563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984125808803428"/>
          <c:y val="0.86079535392819728"/>
          <c:w val="0.34046252028653334"/>
          <c:h val="6.03551482294878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8FAADC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464141479804146E-2"/>
          <c:y val="3.146862011031952E-2"/>
          <c:w val="0.8723735697722157"/>
          <c:h val="0.7891892929262774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Offline-Agent</c:v>
                </c:pt>
              </c:strCache>
            </c:strRef>
          </c:tx>
          <c:spPr>
            <a:ln w="28575" cap="rnd">
              <a:solidFill>
                <a:schemeClr val="accent1">
                  <a:tint val="58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3BEDF"/>
              </a:solidFill>
              <a:ln w="9525">
                <a:noFill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Nov_22</c:v>
                </c:pt>
                <c:pt idx="1">
                  <c:v>Dec_22</c:v>
                </c:pt>
                <c:pt idx="2">
                  <c:v>Jan_23</c:v>
                </c:pt>
                <c:pt idx="3">
                  <c:v>Feb_23</c:v>
                </c:pt>
                <c:pt idx="4">
                  <c:v>Mar_23</c:v>
                </c:pt>
                <c:pt idx="5">
                  <c:v>Apr_23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84.3</c:v>
                </c:pt>
                <c:pt idx="1">
                  <c:v>102.1</c:v>
                </c:pt>
                <c:pt idx="2">
                  <c:v>84.9</c:v>
                </c:pt>
                <c:pt idx="3">
                  <c:v>76.2</c:v>
                </c:pt>
                <c:pt idx="4">
                  <c:v>134.19999999999999</c:v>
                </c:pt>
                <c:pt idx="5">
                  <c:v>69.099999999999994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1E-41DF-BA61-76336B233D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Offline-Direct</c:v>
                </c:pt>
              </c:strCache>
            </c:strRef>
          </c:tx>
          <c:spPr>
            <a:ln w="28575" cap="rnd">
              <a:solidFill>
                <a:schemeClr val="accent1">
                  <a:tint val="86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991CE"/>
              </a:solidFill>
              <a:ln w="9525">
                <a:noFill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Nov_22</c:v>
                </c:pt>
                <c:pt idx="1">
                  <c:v>Dec_22</c:v>
                </c:pt>
                <c:pt idx="2">
                  <c:v>Jan_23</c:v>
                </c:pt>
                <c:pt idx="3">
                  <c:v>Feb_23</c:v>
                </c:pt>
                <c:pt idx="4">
                  <c:v>Mar_23</c:v>
                </c:pt>
                <c:pt idx="5">
                  <c:v>Apr_23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39.799999999999997</c:v>
                </c:pt>
                <c:pt idx="1">
                  <c:v>32.299999999999997</c:v>
                </c:pt>
                <c:pt idx="2">
                  <c:v>23.3</c:v>
                </c:pt>
                <c:pt idx="3">
                  <c:v>18</c:v>
                </c:pt>
                <c:pt idx="4">
                  <c:v>29.4</c:v>
                </c:pt>
                <c:pt idx="5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36-46ED-AC7C-57EC6EAA44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Online-App</c:v>
                </c:pt>
              </c:strCache>
            </c:strRef>
          </c:tx>
          <c:spPr>
            <a:ln w="28575" cap="rnd">
              <a:solidFill>
                <a:schemeClr val="accent1">
                  <a:shade val="86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F6AB7"/>
              </a:solidFill>
              <a:ln w="9525">
                <a:noFill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Nov_22</c:v>
                </c:pt>
                <c:pt idx="1">
                  <c:v>Dec_22</c:v>
                </c:pt>
                <c:pt idx="2">
                  <c:v>Jan_23</c:v>
                </c:pt>
                <c:pt idx="3">
                  <c:v>Feb_23</c:v>
                </c:pt>
                <c:pt idx="4">
                  <c:v>Mar_23</c:v>
                </c:pt>
                <c:pt idx="5">
                  <c:v>Apr_23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5.5</c:v>
                </c:pt>
                <c:pt idx="1">
                  <c:v>12.8</c:v>
                </c:pt>
                <c:pt idx="2">
                  <c:v>19.600000000000001</c:v>
                </c:pt>
                <c:pt idx="3">
                  <c:v>27.1</c:v>
                </c:pt>
                <c:pt idx="4">
                  <c:v>54.3</c:v>
                </c:pt>
                <c:pt idx="5">
                  <c:v>41.7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8D-4641-A892-F8727DA4E04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Online-Website</c:v>
                </c:pt>
              </c:strCache>
            </c:strRef>
          </c:tx>
          <c:spPr>
            <a:ln w="28575" cap="rnd">
              <a:solidFill>
                <a:schemeClr val="accent1">
                  <a:shade val="58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35899"/>
              </a:solidFill>
              <a:ln w="9525">
                <a:noFill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Nov_22</c:v>
                </c:pt>
                <c:pt idx="1">
                  <c:v>Dec_22</c:v>
                </c:pt>
                <c:pt idx="2">
                  <c:v>Jan_23</c:v>
                </c:pt>
                <c:pt idx="3">
                  <c:v>Feb_23</c:v>
                </c:pt>
                <c:pt idx="4">
                  <c:v>Mar_23</c:v>
                </c:pt>
                <c:pt idx="5">
                  <c:v>Apr_23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2.1</c:v>
                </c:pt>
                <c:pt idx="1">
                  <c:v>9.1</c:v>
                </c:pt>
                <c:pt idx="2">
                  <c:v>13.2</c:v>
                </c:pt>
                <c:pt idx="3">
                  <c:v>21.3</c:v>
                </c:pt>
                <c:pt idx="4">
                  <c:v>46</c:v>
                </c:pt>
                <c:pt idx="5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8D-4641-A892-F8727DA4E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0574256"/>
        <c:axId val="1060573296"/>
      </c:lineChart>
      <c:catAx>
        <c:axId val="1060574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8FAAD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573296"/>
        <c:crosses val="autoZero"/>
        <c:auto val="1"/>
        <c:lblAlgn val="ctr"/>
        <c:lblOffset val="100"/>
        <c:noMultiLvlLbl val="0"/>
      </c:catAx>
      <c:valAx>
        <c:axId val="10605732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44678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574256"/>
        <c:crosses val="autoZero"/>
        <c:crossBetween val="between"/>
      </c:valAx>
      <c:spPr>
        <a:solidFill>
          <a:srgbClr val="122542"/>
        </a:solidFill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BED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991CE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3F6AB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335899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1.6732787074095461E-2"/>
          <c:y val="0.90054183610150951"/>
          <c:w val="0.9467302706456775"/>
          <c:h val="8.00239489234949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8FAADC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122542"/>
    </a:solidFill>
    <a:ln cap="sq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</a:t>
            </a:r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2855442"/>
            <a:ext cx="5029200" cy="1167917"/>
          </a:xfrm>
        </p:spPr>
        <p:txBody>
          <a:bodyPr lIns="0" anchor="b" anchorCtr="0">
            <a:normAutofit/>
          </a:bodyPr>
          <a:lstStyle/>
          <a:p>
            <a:r>
              <a:rPr lang="en-US" sz="4000" dirty="0"/>
              <a:t>Shield Insurance</a:t>
            </a:r>
            <a:br>
              <a:rPr lang="en-US" sz="4000" dirty="0"/>
            </a:br>
            <a:r>
              <a:rPr lang="en-US" sz="2000" dirty="0">
                <a:solidFill>
                  <a:srgbClr val="0D6ABF"/>
                </a:solidFill>
              </a:rPr>
              <a:t>Customer Insights &amp; Sales Analytics</a:t>
            </a:r>
            <a:endParaRPr lang="en-US" sz="4000" dirty="0">
              <a:solidFill>
                <a:srgbClr val="0D6AB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86054"/>
            <a:ext cx="2980906" cy="338956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8FAADC"/>
                </a:solidFill>
                <a:latin typeface="+mj-lt"/>
              </a:rPr>
              <a:t>Presented by </a:t>
            </a:r>
            <a:r>
              <a:rPr lang="en-US" sz="1600" dirty="0">
                <a:solidFill>
                  <a:srgbClr val="8FAADC"/>
                </a:solidFill>
              </a:rPr>
              <a:t>:  </a:t>
            </a:r>
            <a:r>
              <a:rPr lang="en-US" sz="1600" b="1" dirty="0">
                <a:solidFill>
                  <a:srgbClr val="8FAADC"/>
                </a:solidFill>
                <a:latin typeface="+mj-lt"/>
              </a:rPr>
              <a:t>Ankush Patil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0F80059-654B-9D00-A728-CAC21F3EF289}"/>
              </a:ext>
            </a:extLst>
          </p:cNvPr>
          <p:cNvSpPr>
            <a:spLocks noChangeAspect="1"/>
          </p:cNvSpPr>
          <p:nvPr/>
        </p:nvSpPr>
        <p:spPr>
          <a:xfrm rot="5400000">
            <a:off x="6177548" y="4099931"/>
            <a:ext cx="1789525" cy="1571624"/>
          </a:xfrm>
          <a:prstGeom prst="hexagon">
            <a:avLst>
              <a:gd name="adj" fmla="val 28023"/>
              <a:gd name="vf" fmla="val 115470"/>
            </a:avLst>
          </a:prstGeom>
          <a:solidFill>
            <a:srgbClr val="2D45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43920E31-DA3B-DABF-41F6-00C5C3C7F9EB}"/>
              </a:ext>
            </a:extLst>
          </p:cNvPr>
          <p:cNvSpPr>
            <a:spLocks noChangeAspect="1"/>
          </p:cNvSpPr>
          <p:nvPr/>
        </p:nvSpPr>
        <p:spPr>
          <a:xfrm rot="5400000">
            <a:off x="9781808" y="1174868"/>
            <a:ext cx="1789525" cy="1571624"/>
          </a:xfrm>
          <a:prstGeom prst="hexagon">
            <a:avLst>
              <a:gd name="adj" fmla="val 28023"/>
              <a:gd name="vf" fmla="val 115470"/>
            </a:avLst>
          </a:prstGeom>
          <a:noFill/>
          <a:ln w="19050">
            <a:solidFill>
              <a:srgbClr val="0D6A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4"/>
          <a:srcRect l="17471" r="17471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2" name="Hexagon 1">
            <a:extLst>
              <a:ext uri="{FF2B5EF4-FFF2-40B4-BE49-F238E27FC236}">
                <a16:creationId xmlns:a16="http://schemas.microsoft.com/office/drawing/2014/main" id="{CB57A4A3-F5EF-82C2-E34C-EE5FF1535A88}"/>
              </a:ext>
            </a:extLst>
          </p:cNvPr>
          <p:cNvSpPr/>
          <p:nvPr/>
        </p:nvSpPr>
        <p:spPr>
          <a:xfrm rot="5400000">
            <a:off x="7371398" y="5626419"/>
            <a:ext cx="963927" cy="836295"/>
          </a:xfrm>
          <a:prstGeom prst="hexagon">
            <a:avLst>
              <a:gd name="adj" fmla="val 28872"/>
              <a:gd name="vf" fmla="val 11547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BDE05C-0176-7FF9-178F-18F9992D34DD}"/>
              </a:ext>
            </a:extLst>
          </p:cNvPr>
          <p:cNvCxnSpPr>
            <a:cxnSpLocks/>
          </p:cNvCxnSpPr>
          <p:nvPr/>
        </p:nvCxnSpPr>
        <p:spPr>
          <a:xfrm>
            <a:off x="1168400" y="4172084"/>
            <a:ext cx="0" cy="366896"/>
          </a:xfrm>
          <a:prstGeom prst="line">
            <a:avLst/>
          </a:prstGeom>
          <a:ln w="15875">
            <a:solidFill>
              <a:srgbClr val="2D45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A4D18F2C-7DF7-8B08-F4CF-3E28AD91D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492" y="1517999"/>
            <a:ext cx="1337444" cy="13374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269"/>
    </mc:Choice>
    <mc:Fallback xmlns="">
      <p:transition spd="slow" advTm="372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build="p"/>
      <p:bldP spid="4" grpId="0" animBg="1"/>
      <p:bldP spid="6" grpId="0" animBg="1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ADCE2-CBAB-FE85-8585-FB205519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EED10D3-C43A-8188-AB04-F329288C48CD}"/>
              </a:ext>
            </a:extLst>
          </p:cNvPr>
          <p:cNvGrpSpPr/>
          <p:nvPr/>
        </p:nvGrpSpPr>
        <p:grpSpPr>
          <a:xfrm>
            <a:off x="752353" y="494838"/>
            <a:ext cx="3753744" cy="949123"/>
            <a:chOff x="752353" y="494838"/>
            <a:chExt cx="3753744" cy="9491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F5D7A8-9A95-2CD7-D957-E87E41FA266A}"/>
                </a:ext>
              </a:extLst>
            </p:cNvPr>
            <p:cNvSpPr/>
            <p:nvPr/>
          </p:nvSpPr>
          <p:spPr>
            <a:xfrm>
              <a:off x="752353" y="494838"/>
              <a:ext cx="3753744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Strong Business Growth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Across the Reporting Period | </a:t>
              </a:r>
              <a:r>
                <a:rPr lang="en-IN" sz="9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Nov 2022 – Apr 2023</a:t>
              </a:r>
              <a:endParaRPr lang="en-IN" sz="1100" dirty="0">
                <a:solidFill>
                  <a:srgbClr val="7991CE"/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E11E27E-5E88-740B-197D-CED62B577997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B3B426-382A-639B-2349-3EA428D15A7A}"/>
              </a:ext>
            </a:extLst>
          </p:cNvPr>
          <p:cNvSpPr>
            <a:spLocks noChangeAspect="1"/>
          </p:cNvSpPr>
          <p:nvPr/>
        </p:nvSpPr>
        <p:spPr>
          <a:xfrm>
            <a:off x="2593155" y="1944373"/>
            <a:ext cx="2029630" cy="1275323"/>
          </a:xfrm>
          <a:prstGeom prst="roundRect">
            <a:avLst/>
          </a:prstGeom>
          <a:solidFill>
            <a:srgbClr val="1225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600" b="1" dirty="0">
                <a:latin typeface="+mj-lt"/>
              </a:rPr>
              <a:t>₹989M</a:t>
            </a:r>
          </a:p>
          <a:p>
            <a:pPr algn="ctr"/>
            <a:endParaRPr lang="en-IN" sz="1000" dirty="0">
              <a:latin typeface="+mj-lt"/>
            </a:endParaRPr>
          </a:p>
          <a:p>
            <a:pPr algn="ctr"/>
            <a:r>
              <a:rPr lang="en-IN" sz="1200" dirty="0">
                <a:solidFill>
                  <a:srgbClr val="8FAADC"/>
                </a:solidFill>
              </a:rPr>
              <a:t>Total Revenue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7F178E-C8D6-4FAF-5BB1-503ECA52B84F}"/>
              </a:ext>
            </a:extLst>
          </p:cNvPr>
          <p:cNvSpPr>
            <a:spLocks noChangeAspect="1"/>
          </p:cNvSpPr>
          <p:nvPr/>
        </p:nvSpPr>
        <p:spPr>
          <a:xfrm>
            <a:off x="2593155" y="3828805"/>
            <a:ext cx="2029630" cy="1275322"/>
          </a:xfrm>
          <a:prstGeom prst="roundRect">
            <a:avLst/>
          </a:prstGeom>
          <a:solidFill>
            <a:srgbClr val="1225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600" b="1" dirty="0">
                <a:latin typeface="+mj-lt"/>
              </a:rPr>
              <a:t>27K</a:t>
            </a:r>
          </a:p>
          <a:p>
            <a:pPr algn="ctr"/>
            <a:endParaRPr lang="en-IN" sz="1000" dirty="0">
              <a:latin typeface="+mj-lt"/>
            </a:endParaRPr>
          </a:p>
          <a:p>
            <a:pPr algn="ctr"/>
            <a:r>
              <a:rPr lang="en-IN" sz="1200" dirty="0">
                <a:solidFill>
                  <a:srgbClr val="8FAADC"/>
                </a:solidFill>
              </a:rPr>
              <a:t>Total Customers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AC6D27-7FDA-338E-5B9B-53AADFE18751}"/>
              </a:ext>
            </a:extLst>
          </p:cNvPr>
          <p:cNvSpPr>
            <a:spLocks noChangeAspect="1"/>
          </p:cNvSpPr>
          <p:nvPr/>
        </p:nvSpPr>
        <p:spPr>
          <a:xfrm>
            <a:off x="6843065" y="2640176"/>
            <a:ext cx="2870102" cy="1768148"/>
          </a:xfrm>
          <a:prstGeom prst="roundRect">
            <a:avLst/>
          </a:prstGeom>
          <a:solidFill>
            <a:srgbClr val="1225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latin typeface="+mj-lt"/>
              </a:rPr>
              <a:t>₹37K</a:t>
            </a:r>
          </a:p>
          <a:p>
            <a:pPr algn="ctr"/>
            <a:endParaRPr lang="en-IN" sz="1000" dirty="0"/>
          </a:p>
          <a:p>
            <a:pPr algn="ctr"/>
            <a:r>
              <a:rPr lang="en-IN" sz="1300" dirty="0">
                <a:solidFill>
                  <a:srgbClr val="8FAADC"/>
                </a:solidFill>
              </a:rPr>
              <a:t>Average Revenue per Customer</a:t>
            </a:r>
          </a:p>
          <a:p>
            <a:pPr algn="ctr"/>
            <a:r>
              <a:rPr lang="en-IN" sz="1300" dirty="0">
                <a:solidFill>
                  <a:srgbClr val="8FAADC"/>
                </a:solidFill>
              </a:rPr>
              <a:t>(ARPC)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D447C4A-DEDA-B2B0-AC8A-F5F0AC61C3F5}"/>
              </a:ext>
            </a:extLst>
          </p:cNvPr>
          <p:cNvSpPr/>
          <p:nvPr/>
        </p:nvSpPr>
        <p:spPr>
          <a:xfrm>
            <a:off x="2691765" y="3488063"/>
            <a:ext cx="2295525" cy="72374"/>
          </a:xfrm>
          <a:prstGeom prst="rightArrow">
            <a:avLst>
              <a:gd name="adj1" fmla="val 25498"/>
              <a:gd name="adj2" fmla="val 182016"/>
            </a:avLst>
          </a:prstGeom>
          <a:solidFill>
            <a:srgbClr val="0D6A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DF9CF5-70B9-7719-D34E-8E407C5BFBF4}"/>
              </a:ext>
            </a:extLst>
          </p:cNvPr>
          <p:cNvGrpSpPr/>
          <p:nvPr/>
        </p:nvGrpSpPr>
        <p:grpSpPr>
          <a:xfrm>
            <a:off x="6843065" y="5104127"/>
            <a:ext cx="3692855" cy="671522"/>
            <a:chOff x="6843065" y="5104127"/>
            <a:chExt cx="3692855" cy="67152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8123A3-1B2A-B14E-3DB3-E645EEE1640C}"/>
                </a:ext>
              </a:extLst>
            </p:cNvPr>
            <p:cNvSpPr txBox="1"/>
            <p:nvPr/>
          </p:nvSpPr>
          <p:spPr>
            <a:xfrm>
              <a:off x="6843065" y="5104127"/>
              <a:ext cx="3692855" cy="58477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rgbClr val="FFFFFF"/>
                  </a:solidFill>
                </a:rPr>
                <a:t>Revenue growth can be accelerated through Customer growth.</a:t>
              </a:r>
              <a:endParaRPr lang="en-IN" sz="1600" b="1" dirty="0">
                <a:solidFill>
                  <a:srgbClr val="FFFFFF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898BB1-439E-7E0E-B27B-36FEBE8D3A41}"/>
                </a:ext>
              </a:extLst>
            </p:cNvPr>
            <p:cNvCxnSpPr>
              <a:cxnSpLocks/>
            </p:cNvCxnSpPr>
            <p:nvPr/>
          </p:nvCxnSpPr>
          <p:spPr>
            <a:xfrm>
              <a:off x="6931551" y="5775649"/>
              <a:ext cx="848482" cy="0"/>
            </a:xfrm>
            <a:prstGeom prst="line">
              <a:avLst/>
            </a:prstGeom>
            <a:ln w="19050">
              <a:solidFill>
                <a:srgbClr val="0D6A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36F2E7D9-FFC8-3CB8-C88D-16B099460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7933822-F2AF-47A7-8AAD-75144ECE7DD8}"/>
              </a:ext>
            </a:extLst>
          </p:cNvPr>
          <p:cNvGrpSpPr/>
          <p:nvPr/>
        </p:nvGrpSpPr>
        <p:grpSpPr>
          <a:xfrm>
            <a:off x="10174604" y="4663440"/>
            <a:ext cx="2338858" cy="2728595"/>
            <a:chOff x="10174604" y="4663440"/>
            <a:chExt cx="2338858" cy="2728595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97504131-BA1A-7361-57A8-A189DE2E8C8B}"/>
                </a:ext>
              </a:extLst>
            </p:cNvPr>
            <p:cNvSpPr/>
            <p:nvPr/>
          </p:nvSpPr>
          <p:spPr>
            <a:xfrm rot="5400000">
              <a:off x="10511786" y="4702811"/>
              <a:ext cx="685803" cy="607061"/>
            </a:xfrm>
            <a:prstGeom prst="hexagon">
              <a:avLst>
                <a:gd name="adj" fmla="val 28138"/>
                <a:gd name="vf" fmla="val 115470"/>
              </a:avLst>
            </a:prstGeom>
            <a:solidFill>
              <a:schemeClr val="accent5">
                <a:lumMod val="40000"/>
                <a:lumOff val="6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E288C7BA-869E-7363-D4E3-919E80514CBB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0388800" y="5267374"/>
              <a:ext cx="2260597" cy="1988726"/>
            </a:xfrm>
            <a:prstGeom prst="hexagon">
              <a:avLst>
                <a:gd name="adj" fmla="val 28138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AD1A5D5B-792D-6594-71F2-1531AE6BC34D}"/>
                </a:ext>
              </a:extLst>
            </p:cNvPr>
            <p:cNvSpPr/>
            <p:nvPr/>
          </p:nvSpPr>
          <p:spPr>
            <a:xfrm rot="5400000">
              <a:off x="10123170" y="5400680"/>
              <a:ext cx="855344" cy="752476"/>
            </a:xfrm>
            <a:prstGeom prst="hexagon">
              <a:avLst>
                <a:gd name="adj" fmla="val 28138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7713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42"/>
    </mc:Choice>
    <mc:Fallback xmlns="">
      <p:transition spd="slow" advTm="489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27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B219F1B-043D-99EE-9654-A7C6213F9E3D}"/>
              </a:ext>
            </a:extLst>
          </p:cNvPr>
          <p:cNvGrpSpPr/>
          <p:nvPr/>
        </p:nvGrpSpPr>
        <p:grpSpPr>
          <a:xfrm>
            <a:off x="752353" y="494838"/>
            <a:ext cx="4241066" cy="949123"/>
            <a:chOff x="752353" y="494838"/>
            <a:chExt cx="4241066" cy="9491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D2F7272-1A16-C7FC-AFA4-053FD44C3C21}"/>
                </a:ext>
              </a:extLst>
            </p:cNvPr>
            <p:cNvSpPr/>
            <p:nvPr/>
          </p:nvSpPr>
          <p:spPr>
            <a:xfrm>
              <a:off x="752353" y="494838"/>
              <a:ext cx="4241066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Revenue &amp; Customer Growth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Monthly Trend </a:t>
              </a:r>
              <a:r>
                <a:rPr lang="en-IN" sz="1200" dirty="0">
                  <a:solidFill>
                    <a:srgbClr val="44678D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| </a:t>
              </a:r>
              <a:r>
                <a:rPr lang="en-IN" sz="1050" dirty="0">
                  <a:solidFill>
                    <a:srgbClr val="44678D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Nov 2022 – Apr 2023</a:t>
              </a:r>
              <a:endParaRPr lang="en-IN" sz="1200" dirty="0">
                <a:solidFill>
                  <a:srgbClr val="44678D"/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B0030DE-6E6F-FB23-297A-61EDC85E7CE3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D700A948-04C7-ACDD-35AA-48910B89F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026BF3FB-B43D-DE16-CE71-CF8C4187FF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981637"/>
              </p:ext>
            </p:extLst>
          </p:nvPr>
        </p:nvGraphicFramePr>
        <p:xfrm>
          <a:off x="752353" y="1951547"/>
          <a:ext cx="5130287" cy="3920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73F2528B-F91B-3CF0-E2F5-5C57552A6CED}"/>
              </a:ext>
            </a:extLst>
          </p:cNvPr>
          <p:cNvGrpSpPr/>
          <p:nvPr/>
        </p:nvGrpSpPr>
        <p:grpSpPr>
          <a:xfrm>
            <a:off x="6688103" y="2669001"/>
            <a:ext cx="4620598" cy="875627"/>
            <a:chOff x="6734756" y="1951548"/>
            <a:chExt cx="4620598" cy="87562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39FAAD7-1A57-7F77-DA52-C0D900A8AC3C}"/>
                </a:ext>
              </a:extLst>
            </p:cNvPr>
            <p:cNvSpPr/>
            <p:nvPr/>
          </p:nvSpPr>
          <p:spPr>
            <a:xfrm>
              <a:off x="6734756" y="1951548"/>
              <a:ext cx="1448192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📈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Insight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0F8D688-CFCF-29B7-EA86-388DD0C4BD24}"/>
                </a:ext>
              </a:extLst>
            </p:cNvPr>
            <p:cNvSpPr/>
            <p:nvPr/>
          </p:nvSpPr>
          <p:spPr>
            <a:xfrm>
              <a:off x="7036448" y="2258007"/>
              <a:ext cx="4318906" cy="56916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400" b="1" dirty="0">
                  <a:solidFill>
                    <a:srgbClr val="FFFFFF"/>
                  </a:solidFill>
                </a:rPr>
                <a:t>Revenue and Customer trend moved together, indicating balanced business growth.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6BBEDF-AC64-7772-E1B5-92E6C2882888}"/>
              </a:ext>
            </a:extLst>
          </p:cNvPr>
          <p:cNvGrpSpPr/>
          <p:nvPr/>
        </p:nvGrpSpPr>
        <p:grpSpPr>
          <a:xfrm>
            <a:off x="6688103" y="4090215"/>
            <a:ext cx="4620598" cy="898701"/>
            <a:chOff x="6734756" y="2975739"/>
            <a:chExt cx="4620598" cy="89870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1D98B88-2B12-5EE9-60F1-0783FD003047}"/>
                </a:ext>
              </a:extLst>
            </p:cNvPr>
            <p:cNvSpPr/>
            <p:nvPr/>
          </p:nvSpPr>
          <p:spPr>
            <a:xfrm>
              <a:off x="6734756" y="2975739"/>
              <a:ext cx="1849407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⭐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Observation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CD0B016-F0D0-1BFD-2A3A-03EB2FA07757}"/>
                </a:ext>
              </a:extLst>
            </p:cNvPr>
            <p:cNvSpPr/>
            <p:nvPr/>
          </p:nvSpPr>
          <p:spPr>
            <a:xfrm>
              <a:off x="7036447" y="3297640"/>
              <a:ext cx="4318907" cy="5768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400" b="1" dirty="0">
                  <a:solidFill>
                    <a:srgbClr val="FFFFFF"/>
                  </a:solidFill>
                </a:rPr>
                <a:t>March recorded the highest revenue and customer count, due to customers planning for tax savings.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0B51DC-C7B2-40B9-3239-01760F090B27}"/>
              </a:ext>
            </a:extLst>
          </p:cNvPr>
          <p:cNvGrpSpPr/>
          <p:nvPr/>
        </p:nvGrpSpPr>
        <p:grpSpPr>
          <a:xfrm>
            <a:off x="7317388" y="-919679"/>
            <a:ext cx="2796530" cy="2286698"/>
            <a:chOff x="7317388" y="-919679"/>
            <a:chExt cx="2796530" cy="2286698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B7F88C15-9DDD-4F4D-D219-37FD3555DD2D}"/>
                </a:ext>
              </a:extLst>
            </p:cNvPr>
            <p:cNvSpPr/>
            <p:nvPr/>
          </p:nvSpPr>
          <p:spPr>
            <a:xfrm rot="16200000">
              <a:off x="7232615" y="-816242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AAFE4CFD-AD7C-F4BB-2C9A-69244F5E68C4}"/>
                </a:ext>
              </a:extLst>
            </p:cNvPr>
            <p:cNvSpPr/>
            <p:nvPr/>
          </p:nvSpPr>
          <p:spPr>
            <a:xfrm rot="16200000">
              <a:off x="8691839" y="-834906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DB93EB6C-F75F-A36D-200F-33A7E002D51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8199270" y="409966"/>
              <a:ext cx="1014105" cy="900001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929296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2770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767"/>
    </mc:Choice>
    <mc:Fallback xmlns="">
      <p:transition spd="slow" advTm="487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1F0EA-F934-16CD-475E-77932BA26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624D54AB-CD1B-0F00-908B-7C18ECFEA30B}"/>
              </a:ext>
            </a:extLst>
          </p:cNvPr>
          <p:cNvGrpSpPr/>
          <p:nvPr/>
        </p:nvGrpSpPr>
        <p:grpSpPr>
          <a:xfrm>
            <a:off x="752351" y="494838"/>
            <a:ext cx="6730799" cy="949123"/>
            <a:chOff x="752351" y="494838"/>
            <a:chExt cx="6730799" cy="9491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930079-88C7-FBDA-AB6F-FB3CA24C4F08}"/>
                </a:ext>
              </a:extLst>
            </p:cNvPr>
            <p:cNvSpPr/>
            <p:nvPr/>
          </p:nvSpPr>
          <p:spPr>
            <a:xfrm>
              <a:off x="752351" y="494838"/>
              <a:ext cx="6730799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Delhi NCR drives the Largest Business Volume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City-Wise Analysis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9741E01-1081-24A9-FF8F-B052AA745AD2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0476A405-338C-19C7-A06B-4AD3F96D9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534BC4B-D250-7FFF-BAD3-39C54A902A2A}"/>
              </a:ext>
            </a:extLst>
          </p:cNvPr>
          <p:cNvGrpSpPr/>
          <p:nvPr/>
        </p:nvGrpSpPr>
        <p:grpSpPr>
          <a:xfrm>
            <a:off x="6379775" y="2666513"/>
            <a:ext cx="5386127" cy="1127267"/>
            <a:chOff x="6734756" y="1951548"/>
            <a:chExt cx="5524147" cy="116688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06017F9-9ACC-3614-CFA8-CABDB9C6204D}"/>
                </a:ext>
              </a:extLst>
            </p:cNvPr>
            <p:cNvSpPr/>
            <p:nvPr/>
          </p:nvSpPr>
          <p:spPr>
            <a:xfrm>
              <a:off x="6734756" y="1951548"/>
              <a:ext cx="1448192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📈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Insight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E895978-4E76-69D6-B50C-AD3810004F3A}"/>
                </a:ext>
              </a:extLst>
            </p:cNvPr>
            <p:cNvSpPr/>
            <p:nvPr/>
          </p:nvSpPr>
          <p:spPr>
            <a:xfrm>
              <a:off x="7036446" y="2258007"/>
              <a:ext cx="5222457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FFFFFF"/>
                  </a:solidFill>
                </a:rPr>
                <a:t>Delhi NCR </a:t>
              </a:r>
              <a:r>
                <a:rPr lang="en-IN" sz="1200" b="1" dirty="0">
                  <a:solidFill>
                    <a:srgbClr val="AEC2D8"/>
                  </a:solidFill>
                </a:rPr>
                <a:t>generated the </a:t>
              </a:r>
              <a:r>
                <a:rPr lang="en-IN" sz="1200" b="1" dirty="0">
                  <a:solidFill>
                    <a:srgbClr val="FFFFFF"/>
                  </a:solidFill>
                </a:rPr>
                <a:t>highest revenue </a:t>
              </a:r>
              <a:r>
                <a:rPr lang="en-IN" sz="1200" b="1" dirty="0">
                  <a:solidFill>
                    <a:srgbClr val="AEC2D8"/>
                  </a:solidFill>
                </a:rPr>
                <a:t>and acquired the </a:t>
              </a:r>
              <a:r>
                <a:rPr lang="en-IN" sz="1200" b="1" dirty="0">
                  <a:solidFill>
                    <a:srgbClr val="FFFFFF"/>
                  </a:solidFill>
                </a:rPr>
                <a:t>largest customer base</a:t>
              </a:r>
              <a:r>
                <a:rPr lang="en-IN" sz="1200" b="1" dirty="0">
                  <a:solidFill>
                    <a:srgbClr val="AEC2D8"/>
                  </a:solidFill>
                </a:rPr>
                <a:t>, making it the company’s largest market by business volume.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6FD6BF-F5EC-2D1E-385C-FD92A03C8C82}"/>
              </a:ext>
            </a:extLst>
          </p:cNvPr>
          <p:cNvGrpSpPr/>
          <p:nvPr/>
        </p:nvGrpSpPr>
        <p:grpSpPr>
          <a:xfrm>
            <a:off x="6379775" y="4087727"/>
            <a:ext cx="5386128" cy="1142185"/>
            <a:chOff x="6734756" y="2975739"/>
            <a:chExt cx="5524148" cy="1182327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9F19C21-90D9-A9BB-1013-05AB3C82BC8B}"/>
                </a:ext>
              </a:extLst>
            </p:cNvPr>
            <p:cNvSpPr/>
            <p:nvPr/>
          </p:nvSpPr>
          <p:spPr>
            <a:xfrm>
              <a:off x="6734756" y="2975739"/>
              <a:ext cx="1849407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⭐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Observation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343218E-C2D4-11A5-7632-2C34614BCF38}"/>
                </a:ext>
              </a:extLst>
            </p:cNvPr>
            <p:cNvSpPr/>
            <p:nvPr/>
          </p:nvSpPr>
          <p:spPr>
            <a:xfrm>
              <a:off x="7036446" y="3297640"/>
              <a:ext cx="5222458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AEC2D8"/>
                  </a:solidFill>
                </a:rPr>
                <a:t>ARPC remains relatively consistent across cities (~36k-39k), indicating that revenue differences are primarily driven by customer volume.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2175B45-3B92-39B7-5E9B-C689DEBEECEA}"/>
              </a:ext>
            </a:extLst>
          </p:cNvPr>
          <p:cNvGrpSpPr/>
          <p:nvPr/>
        </p:nvGrpSpPr>
        <p:grpSpPr>
          <a:xfrm>
            <a:off x="817245" y="1962152"/>
            <a:ext cx="4781550" cy="4000497"/>
            <a:chOff x="817245" y="1962152"/>
            <a:chExt cx="4781550" cy="400049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BFB5CB-2416-6CA3-65D0-C553CF7A5929}"/>
                </a:ext>
              </a:extLst>
            </p:cNvPr>
            <p:cNvGrpSpPr/>
            <p:nvPr/>
          </p:nvGrpSpPr>
          <p:grpSpPr>
            <a:xfrm>
              <a:off x="817245" y="1962152"/>
              <a:ext cx="4781550" cy="4000497"/>
              <a:chOff x="817245" y="1962152"/>
              <a:chExt cx="4781550" cy="400049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99C2297-7997-489E-C6A4-3458A8EBB5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335" t="1129" r="274" b="469"/>
              <a:stretch>
                <a:fillRect/>
              </a:stretch>
            </p:blipFill>
            <p:spPr>
              <a:xfrm>
                <a:off x="817245" y="1962152"/>
                <a:ext cx="4781550" cy="4000497"/>
              </a:xfrm>
              <a:prstGeom prst="roundRect">
                <a:avLst>
                  <a:gd name="adj" fmla="val 5494"/>
                </a:avLst>
              </a:prstGeom>
              <a:ln>
                <a:solidFill>
                  <a:srgbClr val="172C51"/>
                </a:solidFill>
              </a:ln>
            </p:spPr>
          </p:pic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28FCCA71-175C-5745-8EAF-7BA0A699107E}"/>
                  </a:ext>
                </a:extLst>
              </p:cNvPr>
              <p:cNvSpPr/>
              <p:nvPr/>
            </p:nvSpPr>
            <p:spPr>
              <a:xfrm>
                <a:off x="3752811" y="2435781"/>
                <a:ext cx="1660437" cy="279427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IN" sz="1100" dirty="0">
                    <a:solidFill>
                      <a:srgbClr val="8FAADC"/>
                    </a:solidFill>
                  </a:rPr>
                  <a:t>Bubble size → Revenue</a:t>
                </a:r>
                <a:endParaRPr lang="en-IN" sz="1100" dirty="0">
                  <a:solidFill>
                    <a:srgbClr val="8FAADC"/>
                  </a:solidFill>
                  <a:latin typeface="+mj-lt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04767FA-C353-490F-8A8D-755300BE9384}"/>
                </a:ext>
              </a:extLst>
            </p:cNvPr>
            <p:cNvSpPr/>
            <p:nvPr/>
          </p:nvSpPr>
          <p:spPr>
            <a:xfrm rot="16200000">
              <a:off x="-704503" y="3893885"/>
              <a:ext cx="3333496" cy="229486"/>
            </a:xfrm>
            <a:prstGeom prst="rect">
              <a:avLst/>
            </a:prstGeom>
            <a:solidFill>
              <a:srgbClr val="1225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dirty="0">
                  <a:solidFill>
                    <a:srgbClr val="8FAADC"/>
                  </a:solidFill>
                  <a:cs typeface="Posterama" panose="020B0504020200020000" pitchFamily="34" charset="0"/>
                </a:rPr>
                <a:t>Average Revenue per Customer (ARPC)</a:t>
              </a:r>
              <a:endParaRPr lang="en-IN" sz="1100" dirty="0">
                <a:solidFill>
                  <a:srgbClr val="8FAADC"/>
                </a:solidFill>
                <a:cs typeface="Posterama" panose="020B0504020200020000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3F978A7-314C-FCED-F155-D8EFEB470E6D}"/>
              </a:ext>
            </a:extLst>
          </p:cNvPr>
          <p:cNvSpPr txBox="1"/>
          <p:nvPr/>
        </p:nvSpPr>
        <p:spPr>
          <a:xfrm>
            <a:off x="4605370" y="4515716"/>
            <a:ext cx="642270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100" b="1" dirty="0">
                <a:solidFill>
                  <a:srgbClr val="12254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402M</a:t>
            </a:r>
            <a:endParaRPr lang="en-IN" sz="1200" b="1" dirty="0">
              <a:solidFill>
                <a:srgbClr val="122542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D1CAFD-D861-34C5-2DAC-6909FE751534}"/>
              </a:ext>
            </a:extLst>
          </p:cNvPr>
          <p:cNvGrpSpPr/>
          <p:nvPr/>
        </p:nvGrpSpPr>
        <p:grpSpPr>
          <a:xfrm>
            <a:off x="1810975" y="2666513"/>
            <a:ext cx="2002835" cy="2613405"/>
            <a:chOff x="1810975" y="2666513"/>
            <a:chExt cx="2002835" cy="26134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F582FB-BA43-7F1B-6D70-88C615E36092}"/>
                </a:ext>
              </a:extLst>
            </p:cNvPr>
            <p:cNvSpPr txBox="1"/>
            <p:nvPr/>
          </p:nvSpPr>
          <p:spPr>
            <a:xfrm>
              <a:off x="3171540" y="3908992"/>
              <a:ext cx="642270" cy="25391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IN" sz="1000" b="1" dirty="0">
                  <a:solidFill>
                    <a:srgbClr val="2D4566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rPr>
                <a:t>240M</a:t>
              </a:r>
              <a:endParaRPr lang="en-IN" sz="1200" b="1" dirty="0">
                <a:solidFill>
                  <a:srgbClr val="2D456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1E54CD-D8E4-5608-BA26-2F279F8D4337}"/>
                </a:ext>
              </a:extLst>
            </p:cNvPr>
            <p:cNvSpPr txBox="1"/>
            <p:nvPr/>
          </p:nvSpPr>
          <p:spPr>
            <a:xfrm>
              <a:off x="2578800" y="4123748"/>
              <a:ext cx="503855" cy="2308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IN" sz="900" b="1" dirty="0">
                  <a:solidFill>
                    <a:srgbClr val="2D4566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rPr>
                <a:t>161M</a:t>
              </a:r>
              <a:endParaRPr lang="en-IN" sz="1200" b="1" dirty="0">
                <a:solidFill>
                  <a:srgbClr val="2D456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EF45D5-C34D-7D16-93C1-6E0BC32F905E}"/>
                </a:ext>
              </a:extLst>
            </p:cNvPr>
            <p:cNvSpPr txBox="1"/>
            <p:nvPr/>
          </p:nvSpPr>
          <p:spPr>
            <a:xfrm>
              <a:off x="2155890" y="5049086"/>
              <a:ext cx="503855" cy="2308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IN" sz="900" b="1" dirty="0">
                  <a:solidFill>
                    <a:srgbClr val="2D4566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rPr>
                <a:t>106M</a:t>
              </a:r>
              <a:endParaRPr lang="en-IN" sz="1200" b="1" dirty="0">
                <a:solidFill>
                  <a:srgbClr val="2D456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693747-27EC-E61F-5905-280B2214876E}"/>
                </a:ext>
              </a:extLst>
            </p:cNvPr>
            <p:cNvSpPr txBox="1"/>
            <p:nvPr/>
          </p:nvSpPr>
          <p:spPr>
            <a:xfrm>
              <a:off x="1810975" y="2666513"/>
              <a:ext cx="642270" cy="21544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IN" sz="800" b="1" dirty="0">
                  <a:solidFill>
                    <a:srgbClr val="2D4566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rPr>
                <a:t>81M</a:t>
              </a:r>
              <a:endParaRPr lang="en-IN" sz="1200" b="1" dirty="0">
                <a:solidFill>
                  <a:srgbClr val="2D4566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582B6-F3A0-F679-E771-5DF5EBD0E5B2}"/>
              </a:ext>
            </a:extLst>
          </p:cNvPr>
          <p:cNvGrpSpPr/>
          <p:nvPr/>
        </p:nvGrpSpPr>
        <p:grpSpPr>
          <a:xfrm>
            <a:off x="7317388" y="-919679"/>
            <a:ext cx="2796530" cy="2286698"/>
            <a:chOff x="7317388" y="-919679"/>
            <a:chExt cx="2796530" cy="2286698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18B4F39A-1BD4-CF68-B1D7-1DCC57305583}"/>
                </a:ext>
              </a:extLst>
            </p:cNvPr>
            <p:cNvSpPr/>
            <p:nvPr/>
          </p:nvSpPr>
          <p:spPr>
            <a:xfrm rot="16200000">
              <a:off x="7232615" y="-816242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943BBFE6-2EC4-0470-4048-DE3495473EB2}"/>
                </a:ext>
              </a:extLst>
            </p:cNvPr>
            <p:cNvSpPr/>
            <p:nvPr/>
          </p:nvSpPr>
          <p:spPr>
            <a:xfrm rot="16200000">
              <a:off x="8691839" y="-834906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917E74E7-9B6B-ADBC-5E0A-1DD7269CD96F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8199270" y="409966"/>
              <a:ext cx="1014105" cy="900001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929296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8749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27"/>
    </mc:Choice>
    <mc:Fallback xmlns="">
      <p:transition spd="slow" advTm="843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35903-FE31-62DA-31F5-A731643A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Key Insight">
            <a:extLst>
              <a:ext uri="{FF2B5EF4-FFF2-40B4-BE49-F238E27FC236}">
                <a16:creationId xmlns:a16="http://schemas.microsoft.com/office/drawing/2014/main" id="{A5DB895F-8AD6-09A1-CF7C-96FAE52C2304}"/>
              </a:ext>
            </a:extLst>
          </p:cNvPr>
          <p:cNvGrpSpPr/>
          <p:nvPr/>
        </p:nvGrpSpPr>
        <p:grpSpPr>
          <a:xfrm>
            <a:off x="6239813" y="1929778"/>
            <a:ext cx="5554078" cy="1127267"/>
            <a:chOff x="6734756" y="1951548"/>
            <a:chExt cx="5696401" cy="1166885"/>
          </a:xfrm>
        </p:grpSpPr>
        <p:sp>
          <p:nvSpPr>
            <p:cNvPr id="37" name="Key Insight Title">
              <a:extLst>
                <a:ext uri="{FF2B5EF4-FFF2-40B4-BE49-F238E27FC236}">
                  <a16:creationId xmlns:a16="http://schemas.microsoft.com/office/drawing/2014/main" id="{5F645332-4157-3AE9-CC58-836DFABAE994}"/>
                </a:ext>
              </a:extLst>
            </p:cNvPr>
            <p:cNvSpPr/>
            <p:nvPr/>
          </p:nvSpPr>
          <p:spPr>
            <a:xfrm>
              <a:off x="6734756" y="1951548"/>
              <a:ext cx="1448192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📈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Insight</a:t>
              </a:r>
            </a:p>
          </p:txBody>
        </p:sp>
        <p:sp>
          <p:nvSpPr>
            <p:cNvPr id="38" name="Key Insight brief">
              <a:extLst>
                <a:ext uri="{FF2B5EF4-FFF2-40B4-BE49-F238E27FC236}">
                  <a16:creationId xmlns:a16="http://schemas.microsoft.com/office/drawing/2014/main" id="{AB9BEE07-B8BB-A652-2EDB-9BD64453CD60}"/>
                </a:ext>
              </a:extLst>
            </p:cNvPr>
            <p:cNvSpPr/>
            <p:nvPr/>
          </p:nvSpPr>
          <p:spPr>
            <a:xfrm>
              <a:off x="7036446" y="2258007"/>
              <a:ext cx="5394711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8FAADC"/>
                  </a:solidFill>
                </a:rPr>
                <a:t>The </a:t>
              </a:r>
              <a:r>
                <a:rPr lang="en-IN" sz="1200" b="1" dirty="0">
                  <a:solidFill>
                    <a:srgbClr val="FFFFFF"/>
                  </a:solidFill>
                </a:rPr>
                <a:t>31–40</a:t>
              </a:r>
              <a:r>
                <a:rPr lang="en-IN" sz="1200" b="1" dirty="0">
                  <a:solidFill>
                    <a:srgbClr val="8FAADC"/>
                  </a:solidFill>
                </a:rPr>
                <a:t> age group contributes the </a:t>
              </a:r>
              <a:r>
                <a:rPr lang="en-IN" sz="1200" b="1" dirty="0">
                  <a:solidFill>
                    <a:srgbClr val="FFFFFF"/>
                  </a:solidFill>
                </a:rPr>
                <a:t>highest revenue (38%)</a:t>
              </a:r>
              <a:r>
                <a:rPr lang="en-IN" sz="1200" b="1" dirty="0">
                  <a:solidFill>
                    <a:srgbClr val="8FAADC"/>
                  </a:solidFill>
                </a:rPr>
                <a:t>, supported by having the </a:t>
              </a:r>
              <a:r>
                <a:rPr lang="en-IN" sz="1200" b="1" dirty="0">
                  <a:solidFill>
                    <a:srgbClr val="FFFFFF"/>
                  </a:solidFill>
                </a:rPr>
                <a:t>largest customer base</a:t>
              </a:r>
              <a:r>
                <a:rPr lang="en-IN" sz="1200" b="1" dirty="0">
                  <a:solidFill>
                    <a:srgbClr val="8FAADC"/>
                  </a:solidFill>
                </a:rPr>
                <a:t>.</a:t>
              </a:r>
            </a:p>
          </p:txBody>
        </p:sp>
      </p:grpSp>
      <p:grpSp>
        <p:nvGrpSpPr>
          <p:cNvPr id="39" name="Recommendation">
            <a:extLst>
              <a:ext uri="{FF2B5EF4-FFF2-40B4-BE49-F238E27FC236}">
                <a16:creationId xmlns:a16="http://schemas.microsoft.com/office/drawing/2014/main" id="{C80BC7FA-6C91-65FC-02A5-904F3B3EEE9E}"/>
              </a:ext>
            </a:extLst>
          </p:cNvPr>
          <p:cNvGrpSpPr/>
          <p:nvPr/>
        </p:nvGrpSpPr>
        <p:grpSpPr>
          <a:xfrm>
            <a:off x="6239812" y="3350992"/>
            <a:ext cx="5554078" cy="1114192"/>
            <a:chOff x="6734756" y="2975739"/>
            <a:chExt cx="5696402" cy="1153350"/>
          </a:xfrm>
        </p:grpSpPr>
        <p:sp>
          <p:nvSpPr>
            <p:cNvPr id="40" name="Recommendation title">
              <a:extLst>
                <a:ext uri="{FF2B5EF4-FFF2-40B4-BE49-F238E27FC236}">
                  <a16:creationId xmlns:a16="http://schemas.microsoft.com/office/drawing/2014/main" id="{8D882708-B41D-4C30-80D9-24D7EFC4FCAF}"/>
                </a:ext>
              </a:extLst>
            </p:cNvPr>
            <p:cNvSpPr/>
            <p:nvPr/>
          </p:nvSpPr>
          <p:spPr>
            <a:xfrm>
              <a:off x="6734756" y="2975739"/>
              <a:ext cx="1849407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⭐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Observation</a:t>
              </a:r>
            </a:p>
          </p:txBody>
        </p:sp>
        <p:sp>
          <p:nvSpPr>
            <p:cNvPr id="41" name="Recommendation brief">
              <a:extLst>
                <a:ext uri="{FF2B5EF4-FFF2-40B4-BE49-F238E27FC236}">
                  <a16:creationId xmlns:a16="http://schemas.microsoft.com/office/drawing/2014/main" id="{14149952-CCEA-6612-77F5-1ED558398F10}"/>
                </a:ext>
              </a:extLst>
            </p:cNvPr>
            <p:cNvSpPr/>
            <p:nvPr/>
          </p:nvSpPr>
          <p:spPr>
            <a:xfrm>
              <a:off x="7036446" y="3268663"/>
              <a:ext cx="5394712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8FAADC"/>
                  </a:solidFill>
                </a:rPr>
                <a:t>Customers aged 31–40 form the largest customer base, likely driven by greater financial responsibilities such as family protection, home ownership, and long-term financial planning.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F8736C1-DDC4-C188-0B85-8DAF1085DDBF}"/>
              </a:ext>
            </a:extLst>
          </p:cNvPr>
          <p:cNvGrpSpPr/>
          <p:nvPr/>
        </p:nvGrpSpPr>
        <p:grpSpPr>
          <a:xfrm>
            <a:off x="752351" y="494838"/>
            <a:ext cx="6730799" cy="949123"/>
            <a:chOff x="752351" y="494838"/>
            <a:chExt cx="6730799" cy="94912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96102EA-F6A0-63D4-6F05-AA859BCCA1AF}"/>
                </a:ext>
              </a:extLst>
            </p:cNvPr>
            <p:cNvSpPr/>
            <p:nvPr/>
          </p:nvSpPr>
          <p:spPr>
            <a:xfrm>
              <a:off x="752351" y="494838"/>
              <a:ext cx="6730799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31-40 Age Group leads Overall Revenue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Age-Group Analysis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AF842EB-4DB2-A85B-151F-DBCB10A94412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9902C1-6764-6F29-7B4E-A02A441F1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3628193"/>
              </p:ext>
            </p:extLst>
          </p:nvPr>
        </p:nvGraphicFramePr>
        <p:xfrm>
          <a:off x="1022358" y="2144206"/>
          <a:ext cx="4734668" cy="3729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5084664-2535-0524-BB35-E59506D9F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2545CC4-2679-ABC7-99F5-2DE3BB7EC010}"/>
              </a:ext>
            </a:extLst>
          </p:cNvPr>
          <p:cNvGrpSpPr/>
          <p:nvPr/>
        </p:nvGrpSpPr>
        <p:grpSpPr>
          <a:xfrm>
            <a:off x="10174604" y="4663440"/>
            <a:ext cx="2338858" cy="2728595"/>
            <a:chOff x="10174604" y="4663440"/>
            <a:chExt cx="2338858" cy="2728595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AE794F78-B877-750A-89AE-997F855DDE9A}"/>
                </a:ext>
              </a:extLst>
            </p:cNvPr>
            <p:cNvSpPr/>
            <p:nvPr/>
          </p:nvSpPr>
          <p:spPr>
            <a:xfrm rot="5400000">
              <a:off x="10511786" y="4702811"/>
              <a:ext cx="685803" cy="607061"/>
            </a:xfrm>
            <a:prstGeom prst="hexagon">
              <a:avLst>
                <a:gd name="adj" fmla="val 28138"/>
                <a:gd name="vf" fmla="val 115470"/>
              </a:avLst>
            </a:prstGeom>
            <a:solidFill>
              <a:schemeClr val="accent5">
                <a:lumMod val="40000"/>
                <a:lumOff val="6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95AB4E7F-8659-8D58-1428-1612E2E3D7B1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0388800" y="5267374"/>
              <a:ext cx="2260597" cy="1988726"/>
            </a:xfrm>
            <a:prstGeom prst="hexagon">
              <a:avLst>
                <a:gd name="adj" fmla="val 28138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83500188-77B8-5368-3384-86A089B7EFFB}"/>
                </a:ext>
              </a:extLst>
            </p:cNvPr>
            <p:cNvSpPr/>
            <p:nvPr/>
          </p:nvSpPr>
          <p:spPr>
            <a:xfrm rot="5400000">
              <a:off x="10123170" y="5400680"/>
              <a:ext cx="855344" cy="752476"/>
            </a:xfrm>
            <a:prstGeom prst="hexagon">
              <a:avLst>
                <a:gd name="adj" fmla="val 28138"/>
                <a:gd name="vf" fmla="val 115470"/>
              </a:avLst>
            </a:prstGeom>
            <a:solidFill>
              <a:srgbClr val="4472C4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0208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817"/>
    </mc:Choice>
    <mc:Fallback xmlns="">
      <p:transition spd="slow" advTm="438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31498C7-8061-6D3A-E08E-0C451CDFEC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1163754"/>
              </p:ext>
            </p:extLst>
          </p:nvPr>
        </p:nvGraphicFramePr>
        <p:xfrm>
          <a:off x="1410407" y="2225911"/>
          <a:ext cx="4596059" cy="342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4903605-EDB1-FB41-69E9-6B999B876350}"/>
              </a:ext>
            </a:extLst>
          </p:cNvPr>
          <p:cNvGrpSpPr/>
          <p:nvPr/>
        </p:nvGrpSpPr>
        <p:grpSpPr>
          <a:xfrm>
            <a:off x="752351" y="494838"/>
            <a:ext cx="6730799" cy="949123"/>
            <a:chOff x="752351" y="494838"/>
            <a:chExt cx="6730799" cy="9491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B3F324-546C-E068-8325-9CD7F86294F5}"/>
                </a:ext>
              </a:extLst>
            </p:cNvPr>
            <p:cNvSpPr/>
            <p:nvPr/>
          </p:nvSpPr>
          <p:spPr>
            <a:xfrm>
              <a:off x="752351" y="494838"/>
              <a:ext cx="6730799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ARPC increases with Customer Age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Age-Group Analysis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67E8A4-42BE-823D-DCBD-B3D105D0EB8A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676614F8-C670-6BD8-A607-027C4F927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24" name="Key Insight">
            <a:extLst>
              <a:ext uri="{FF2B5EF4-FFF2-40B4-BE49-F238E27FC236}">
                <a16:creationId xmlns:a16="http://schemas.microsoft.com/office/drawing/2014/main" id="{54680602-BE51-466C-F134-B16839C5140E}"/>
              </a:ext>
            </a:extLst>
          </p:cNvPr>
          <p:cNvGrpSpPr/>
          <p:nvPr/>
        </p:nvGrpSpPr>
        <p:grpSpPr>
          <a:xfrm>
            <a:off x="6277138" y="3907867"/>
            <a:ext cx="4686335" cy="1127267"/>
            <a:chOff x="6734756" y="1951548"/>
            <a:chExt cx="4806422" cy="1166885"/>
          </a:xfrm>
        </p:grpSpPr>
        <p:sp>
          <p:nvSpPr>
            <p:cNvPr id="26" name="Key Insight Title">
              <a:extLst>
                <a:ext uri="{FF2B5EF4-FFF2-40B4-BE49-F238E27FC236}">
                  <a16:creationId xmlns:a16="http://schemas.microsoft.com/office/drawing/2014/main" id="{45245095-5078-EFBE-ED0B-4174A2EBA840}"/>
                </a:ext>
              </a:extLst>
            </p:cNvPr>
            <p:cNvSpPr/>
            <p:nvPr/>
          </p:nvSpPr>
          <p:spPr>
            <a:xfrm>
              <a:off x="6734756" y="1951548"/>
              <a:ext cx="1448192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📈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Insight</a:t>
              </a:r>
            </a:p>
          </p:txBody>
        </p:sp>
        <p:sp>
          <p:nvSpPr>
            <p:cNvPr id="29" name="Key Insight brief">
              <a:extLst>
                <a:ext uri="{FF2B5EF4-FFF2-40B4-BE49-F238E27FC236}">
                  <a16:creationId xmlns:a16="http://schemas.microsoft.com/office/drawing/2014/main" id="{B0337011-1549-EC2C-F791-F4951663E726}"/>
                </a:ext>
              </a:extLst>
            </p:cNvPr>
            <p:cNvSpPr/>
            <p:nvPr/>
          </p:nvSpPr>
          <p:spPr>
            <a:xfrm>
              <a:off x="7036446" y="2258007"/>
              <a:ext cx="4504732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FFFFFF"/>
                  </a:solidFill>
                </a:rPr>
                <a:t>ARPC</a:t>
              </a:r>
              <a:r>
                <a:rPr lang="en-IN" sz="1200" b="1" dirty="0">
                  <a:solidFill>
                    <a:srgbClr val="8FAADC"/>
                  </a:solidFill>
                </a:rPr>
                <a:t> steadily </a:t>
              </a:r>
              <a:r>
                <a:rPr lang="en-IN" sz="1200" b="1" dirty="0">
                  <a:solidFill>
                    <a:srgbClr val="FFFFFF"/>
                  </a:solidFill>
                </a:rPr>
                <a:t>increases</a:t>
              </a:r>
              <a:r>
                <a:rPr lang="en-IN" sz="1200" b="1" dirty="0">
                  <a:solidFill>
                    <a:srgbClr val="8FAADC"/>
                  </a:solidFill>
                </a:rPr>
                <a:t> with </a:t>
              </a:r>
              <a:r>
                <a:rPr lang="en-IN" sz="1200" b="1" dirty="0">
                  <a:solidFill>
                    <a:srgbClr val="FFFFFF"/>
                  </a:solidFill>
                </a:rPr>
                <a:t>age</a:t>
              </a:r>
              <a:r>
                <a:rPr lang="en-IN" sz="1200" b="1" dirty="0">
                  <a:solidFill>
                    <a:srgbClr val="8FAADC"/>
                  </a:solidFill>
                </a:rPr>
                <a:t>, customers aged </a:t>
              </a:r>
              <a:r>
                <a:rPr lang="en-IN" sz="1200" b="1" dirty="0">
                  <a:solidFill>
                    <a:srgbClr val="FFFFFF"/>
                  </a:solidFill>
                </a:rPr>
                <a:t>65+</a:t>
              </a:r>
              <a:r>
                <a:rPr lang="en-IN" sz="1200" b="1" dirty="0">
                  <a:solidFill>
                    <a:srgbClr val="8FAADC"/>
                  </a:solidFill>
                </a:rPr>
                <a:t> generating the </a:t>
              </a:r>
              <a:r>
                <a:rPr lang="en-IN" sz="1200" b="1" dirty="0">
                  <a:solidFill>
                    <a:srgbClr val="FFFFFF"/>
                  </a:solidFill>
                </a:rPr>
                <a:t>highest revenue per customer</a:t>
              </a:r>
              <a:r>
                <a:rPr lang="en-IN" sz="1200" b="1" dirty="0">
                  <a:solidFill>
                    <a:srgbClr val="8FAADC"/>
                  </a:solidFill>
                </a:rPr>
                <a:t>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29BDA03-E3A5-E2F0-C247-E53618B23251}"/>
              </a:ext>
            </a:extLst>
          </p:cNvPr>
          <p:cNvGrpSpPr/>
          <p:nvPr/>
        </p:nvGrpSpPr>
        <p:grpSpPr>
          <a:xfrm>
            <a:off x="6556863" y="-921378"/>
            <a:ext cx="4242506" cy="2773034"/>
            <a:chOff x="5250186" y="-921378"/>
            <a:chExt cx="4242506" cy="2773034"/>
          </a:xfrm>
        </p:grpSpPr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66EED237-E541-5B9C-B58D-0326EF9235C9}"/>
                </a:ext>
              </a:extLst>
            </p:cNvPr>
            <p:cNvSpPr/>
            <p:nvPr/>
          </p:nvSpPr>
          <p:spPr>
            <a:xfrm rot="16200000">
              <a:off x="5165413" y="-816243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chemeClr val="accent1">
                  <a:lumMod val="75000"/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B6B546DA-3531-3A30-92F6-F8C78794E45F}"/>
                </a:ext>
              </a:extLst>
            </p:cNvPr>
            <p:cNvSpPr/>
            <p:nvPr/>
          </p:nvSpPr>
          <p:spPr>
            <a:xfrm rot="16200000">
              <a:off x="5895026" y="429577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334D6A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F359D830-153A-DFD6-EFC1-4B768E60E1A8}"/>
                </a:ext>
              </a:extLst>
            </p:cNvPr>
            <p:cNvSpPr/>
            <p:nvPr/>
          </p:nvSpPr>
          <p:spPr>
            <a:xfrm rot="16200000">
              <a:off x="6633969" y="-808612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71862494-34F7-FB6C-AB9F-EBAEAA0557CA}"/>
                </a:ext>
              </a:extLst>
            </p:cNvPr>
            <p:cNvSpPr/>
            <p:nvPr/>
          </p:nvSpPr>
          <p:spPr>
            <a:xfrm rot="16200000">
              <a:off x="8070613" y="-836605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4472C4"/>
                </a:solidFill>
              </a:endParaRPr>
            </a:p>
          </p:txBody>
        </p:sp>
      </p:grpSp>
      <p:sp>
        <p:nvSpPr>
          <p:cNvPr id="34" name="Key Insight brief">
            <a:extLst>
              <a:ext uri="{FF2B5EF4-FFF2-40B4-BE49-F238E27FC236}">
                <a16:creationId xmlns:a16="http://schemas.microsoft.com/office/drawing/2014/main" id="{7AADC227-4103-B649-D980-808E87CE5CDC}"/>
              </a:ext>
            </a:extLst>
          </p:cNvPr>
          <p:cNvSpPr/>
          <p:nvPr/>
        </p:nvSpPr>
        <p:spPr>
          <a:xfrm>
            <a:off x="6571290" y="4999193"/>
            <a:ext cx="4392183" cy="83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200" b="1" dirty="0">
                <a:solidFill>
                  <a:srgbClr val="8FAADC"/>
                </a:solidFill>
              </a:rPr>
              <a:t>Older customers often seek broader coverage and enhanced protection, contributing to higher average premiums.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33"/>
    </mc:Choice>
    <mc:Fallback xmlns="">
      <p:transition spd="slow" advTm="53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38DBE-52DA-12A4-3F5F-FAD79E4F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5B040CB-77C2-699F-ED8E-1BA715484CFE}"/>
              </a:ext>
            </a:extLst>
          </p:cNvPr>
          <p:cNvGrpSpPr/>
          <p:nvPr/>
        </p:nvGrpSpPr>
        <p:grpSpPr>
          <a:xfrm>
            <a:off x="752351" y="494838"/>
            <a:ext cx="6730799" cy="949123"/>
            <a:chOff x="752351" y="494838"/>
            <a:chExt cx="6730799" cy="9491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19A11F-161B-B951-96AE-FB20757A50BD}"/>
                </a:ext>
              </a:extLst>
            </p:cNvPr>
            <p:cNvSpPr/>
            <p:nvPr/>
          </p:nvSpPr>
          <p:spPr>
            <a:xfrm>
              <a:off x="752351" y="494838"/>
              <a:ext cx="6730799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Policy Preferences Shift with Customer Age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Top Policies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4D18C0-6B53-554E-E5AE-362A3FD938A5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BDADDFB-7E79-8F20-75BE-F003CA156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607BBA2-C6DA-A166-6F28-FE27C73A6921}"/>
              </a:ext>
            </a:extLst>
          </p:cNvPr>
          <p:cNvGrpSpPr/>
          <p:nvPr/>
        </p:nvGrpSpPr>
        <p:grpSpPr>
          <a:xfrm>
            <a:off x="6556863" y="-921378"/>
            <a:ext cx="4242506" cy="2773034"/>
            <a:chOff x="5250186" y="-921378"/>
            <a:chExt cx="4242506" cy="2773034"/>
          </a:xfrm>
        </p:grpSpPr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4E6A54A0-2005-8E4F-DB6E-160BB380E93D}"/>
                </a:ext>
              </a:extLst>
            </p:cNvPr>
            <p:cNvSpPr/>
            <p:nvPr/>
          </p:nvSpPr>
          <p:spPr>
            <a:xfrm rot="16200000">
              <a:off x="5165413" y="-816243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chemeClr val="accent1">
                  <a:lumMod val="75000"/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DB15DCA9-3200-7D32-28A0-14F838B9356E}"/>
                </a:ext>
              </a:extLst>
            </p:cNvPr>
            <p:cNvSpPr/>
            <p:nvPr/>
          </p:nvSpPr>
          <p:spPr>
            <a:xfrm rot="16200000">
              <a:off x="5895026" y="429577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334D6A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B065F89-DAE8-2044-A105-A00272B8357D}"/>
                </a:ext>
              </a:extLst>
            </p:cNvPr>
            <p:cNvSpPr/>
            <p:nvPr/>
          </p:nvSpPr>
          <p:spPr>
            <a:xfrm rot="16200000">
              <a:off x="6633969" y="-808612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5D33737B-F56F-C2AA-0746-D6D88CCF85E4}"/>
                </a:ext>
              </a:extLst>
            </p:cNvPr>
            <p:cNvSpPr/>
            <p:nvPr/>
          </p:nvSpPr>
          <p:spPr>
            <a:xfrm rot="16200000">
              <a:off x="8070613" y="-836605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4472C4"/>
                </a:solidFill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165DDB-0039-AB1F-EDEB-13558CE1D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020782"/>
              </p:ext>
            </p:extLst>
          </p:nvPr>
        </p:nvGraphicFramePr>
        <p:xfrm>
          <a:off x="1031980" y="2181343"/>
          <a:ext cx="5353432" cy="350769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238087">
                  <a:extLst>
                    <a:ext uri="{9D8B030D-6E8A-4147-A177-3AD203B41FA5}">
                      <a16:colId xmlns:a16="http://schemas.microsoft.com/office/drawing/2014/main" val="1794960347"/>
                    </a:ext>
                  </a:extLst>
                </a:gridCol>
                <a:gridCol w="1875244">
                  <a:extLst>
                    <a:ext uri="{9D8B030D-6E8A-4147-A177-3AD203B41FA5}">
                      <a16:colId xmlns:a16="http://schemas.microsoft.com/office/drawing/2014/main" val="243649451"/>
                    </a:ext>
                  </a:extLst>
                </a:gridCol>
                <a:gridCol w="1194423">
                  <a:extLst>
                    <a:ext uri="{9D8B030D-6E8A-4147-A177-3AD203B41FA5}">
                      <a16:colId xmlns:a16="http://schemas.microsoft.com/office/drawing/2014/main" val="3436222924"/>
                    </a:ext>
                  </a:extLst>
                </a:gridCol>
                <a:gridCol w="1045678">
                  <a:extLst>
                    <a:ext uri="{9D8B030D-6E8A-4147-A177-3AD203B41FA5}">
                      <a16:colId xmlns:a16="http://schemas.microsoft.com/office/drawing/2014/main" val="9869103"/>
                    </a:ext>
                  </a:extLst>
                </a:gridCol>
              </a:tblGrid>
              <a:tr h="3808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b="1" kern="1200" dirty="0">
                          <a:solidFill>
                            <a:srgbClr val="C8D2E1"/>
                          </a:solidFill>
                        </a:rPr>
                        <a:t>Age Group</a:t>
                      </a:r>
                      <a:endParaRPr lang="en-IN" sz="1200" b="1" kern="1200" dirty="0">
                        <a:solidFill>
                          <a:srgbClr val="C8D2E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1B65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C8D2E1"/>
                          </a:solidFill>
                        </a:rPr>
                        <a:t>Preferred Policy</a:t>
                      </a:r>
                      <a:endParaRPr lang="en-IN" sz="1200" dirty="0">
                        <a:solidFill>
                          <a:srgbClr val="C8D2E1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1B659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b="1" kern="1200" dirty="0">
                          <a:solidFill>
                            <a:srgbClr val="C8D2E1"/>
                          </a:solidFill>
                          <a:latin typeface="+mn-lt"/>
                          <a:ea typeface="+mn-ea"/>
                          <a:cs typeface="+mn-cs"/>
                        </a:rPr>
                        <a:t>Premium</a:t>
                      </a:r>
                    </a:p>
                  </a:txBody>
                  <a:tcPr>
                    <a:solidFill>
                      <a:srgbClr val="1B659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b="1" kern="1200" dirty="0">
                          <a:solidFill>
                            <a:srgbClr val="C8D2E1"/>
                          </a:solidFill>
                          <a:latin typeface="+mn-lt"/>
                          <a:ea typeface="+mn-ea"/>
                          <a:cs typeface="+mn-cs"/>
                        </a:rPr>
                        <a:t>Coverage</a:t>
                      </a:r>
                    </a:p>
                  </a:txBody>
                  <a:tcPr>
                    <a:solidFill>
                      <a:srgbClr val="1B65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074377"/>
                  </a:ext>
                </a:extLst>
              </a:tr>
              <a:tr h="521136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rgbClr val="C8D2E1"/>
                          </a:solidFill>
                        </a:rPr>
                        <a:t>18-24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POL4321HEL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₹5K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₹0.2M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56610"/>
                  </a:ext>
                </a:extLst>
              </a:tr>
              <a:tr h="521136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rgbClr val="C8D2E1"/>
                          </a:solidFill>
                        </a:rPr>
                        <a:t>25-30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POL4321HEL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₹5K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₹0.2M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949099"/>
                  </a:ext>
                </a:extLst>
              </a:tr>
              <a:tr h="521136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rgbClr val="C8D2E1"/>
                          </a:solidFill>
                        </a:rPr>
                        <a:t>31-40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POL3309HEL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₹12K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₹0.5M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254733"/>
                  </a:ext>
                </a:extLst>
              </a:tr>
              <a:tr h="521136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rgbClr val="C8D2E1"/>
                          </a:solidFill>
                        </a:rPr>
                        <a:t>41-50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POL5319HEL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₹17K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₹0.8M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225065"/>
                  </a:ext>
                </a:extLst>
              </a:tr>
              <a:tr h="521136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rgbClr val="C8D2E1"/>
                          </a:solidFill>
                        </a:rPr>
                        <a:t>51-65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POL9221HEL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₹43K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₹2.5M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71851"/>
                  </a:ext>
                </a:extLst>
              </a:tr>
              <a:tr h="521136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rgbClr val="C8D2E1"/>
                          </a:solidFill>
                        </a:rPr>
                        <a:t>65+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POL2005HEL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₹120K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8FAADC"/>
                          </a:solidFill>
                          <a:latin typeface="+mn-lt"/>
                          <a:ea typeface="+mn-ea"/>
                          <a:cs typeface="+mn-cs"/>
                        </a:rPr>
                        <a:t>₹10M</a:t>
                      </a:r>
                    </a:p>
                  </a:txBody>
                  <a:tcPr anchor="ctr">
                    <a:solidFill>
                      <a:srgbClr val="1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02325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1090E8E-28C7-8BF3-9B0E-4B19C41280AA}"/>
              </a:ext>
            </a:extLst>
          </p:cNvPr>
          <p:cNvSpPr/>
          <p:nvPr/>
        </p:nvSpPr>
        <p:spPr>
          <a:xfrm>
            <a:off x="7464695" y="4204710"/>
            <a:ext cx="3834676" cy="1073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C8D2E1"/>
                </a:solidFill>
              </a:rPr>
              <a:t>Premium :   </a:t>
            </a:r>
            <a:r>
              <a:rPr lang="en-IN" sz="1400" dirty="0"/>
              <a:t>₹5K → ₹120K (24x increase)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C8D2E1"/>
                </a:solidFill>
              </a:rPr>
              <a:t>Coverage :   </a:t>
            </a:r>
            <a:r>
              <a:rPr lang="en-IN" sz="1400" dirty="0"/>
              <a:t>₹0.2M → ₹10M (50x increase)</a:t>
            </a:r>
          </a:p>
        </p:txBody>
      </p:sp>
      <p:grpSp>
        <p:nvGrpSpPr>
          <p:cNvPr id="15" name="Key Insight">
            <a:extLst>
              <a:ext uri="{FF2B5EF4-FFF2-40B4-BE49-F238E27FC236}">
                <a16:creationId xmlns:a16="http://schemas.microsoft.com/office/drawing/2014/main" id="{4D45860A-5557-03D4-6C93-E007654E1434}"/>
              </a:ext>
            </a:extLst>
          </p:cNvPr>
          <p:cNvGrpSpPr/>
          <p:nvPr/>
        </p:nvGrpSpPr>
        <p:grpSpPr>
          <a:xfrm>
            <a:off x="7286475" y="2573589"/>
            <a:ext cx="4348797" cy="1127267"/>
            <a:chOff x="6734756" y="1951548"/>
            <a:chExt cx="4460235" cy="1166885"/>
          </a:xfrm>
        </p:grpSpPr>
        <p:sp>
          <p:nvSpPr>
            <p:cNvPr id="16" name="Key Insight Title">
              <a:extLst>
                <a:ext uri="{FF2B5EF4-FFF2-40B4-BE49-F238E27FC236}">
                  <a16:creationId xmlns:a16="http://schemas.microsoft.com/office/drawing/2014/main" id="{EC5599EC-FE1C-7082-8C3E-CA9B33C22B73}"/>
                </a:ext>
              </a:extLst>
            </p:cNvPr>
            <p:cNvSpPr/>
            <p:nvPr/>
          </p:nvSpPr>
          <p:spPr>
            <a:xfrm>
              <a:off x="6734756" y="1951548"/>
              <a:ext cx="1448192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📈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Insight</a:t>
              </a:r>
            </a:p>
          </p:txBody>
        </p:sp>
        <p:sp>
          <p:nvSpPr>
            <p:cNvPr id="17" name="Key Insight brief">
              <a:extLst>
                <a:ext uri="{FF2B5EF4-FFF2-40B4-BE49-F238E27FC236}">
                  <a16:creationId xmlns:a16="http://schemas.microsoft.com/office/drawing/2014/main" id="{2B739150-A0BC-6F12-49EC-20FECD1D9CEE}"/>
                </a:ext>
              </a:extLst>
            </p:cNvPr>
            <p:cNvSpPr/>
            <p:nvPr/>
          </p:nvSpPr>
          <p:spPr>
            <a:xfrm>
              <a:off x="7036446" y="2258007"/>
              <a:ext cx="4158545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400" b="1" dirty="0">
                  <a:solidFill>
                    <a:srgbClr val="C8D2E1"/>
                  </a:solidFill>
                </a:rPr>
                <a:t>With increase in age, customers prefer policies offering broader coverage which results in increased premium and higher ARPC.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2661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372"/>
    </mc:Choice>
    <mc:Fallback xmlns="">
      <p:transition spd="slow" advTm="633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9DEEEED-123B-BB20-762F-07C94664A5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349406"/>
              </p:ext>
            </p:extLst>
          </p:nvPr>
        </p:nvGraphicFramePr>
        <p:xfrm>
          <a:off x="1481940" y="2019300"/>
          <a:ext cx="4614059" cy="3853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55120040-F3BB-E5D5-5B88-1877D6410853}"/>
              </a:ext>
            </a:extLst>
          </p:cNvPr>
          <p:cNvGrpSpPr/>
          <p:nvPr/>
        </p:nvGrpSpPr>
        <p:grpSpPr>
          <a:xfrm>
            <a:off x="752350" y="494838"/>
            <a:ext cx="6684148" cy="949123"/>
            <a:chOff x="752350" y="494838"/>
            <a:chExt cx="6684148" cy="94912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9EEE66-DF74-014E-A62E-7EFCB9ED0700}"/>
                </a:ext>
              </a:extLst>
            </p:cNvPr>
            <p:cNvSpPr/>
            <p:nvPr/>
          </p:nvSpPr>
          <p:spPr>
            <a:xfrm>
              <a:off x="752350" y="494838"/>
              <a:ext cx="6684148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Claim Settlement improves with Customer Age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Age Group Analysis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162EBCD-C0C4-9BAC-5D4E-2A93682513BD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CBF66F5-61D9-E59F-2689-552278864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147FFC1-F15B-D187-1E02-273ADEA81AC9}"/>
              </a:ext>
            </a:extLst>
          </p:cNvPr>
          <p:cNvSpPr/>
          <p:nvPr/>
        </p:nvSpPr>
        <p:spPr>
          <a:xfrm>
            <a:off x="7805855" y="2491276"/>
            <a:ext cx="2776420" cy="1502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>
                <a:solidFill>
                  <a:srgbClr val="8FAADC"/>
                </a:solidFill>
                <a:latin typeface="+mj-lt"/>
              </a:rPr>
              <a:t>Settlement rate</a:t>
            </a:r>
          </a:p>
          <a:p>
            <a:pPr algn="ctr"/>
            <a:endParaRPr lang="en-IN" sz="800" b="1" dirty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IN" sz="2000" b="1" dirty="0">
                <a:solidFill>
                  <a:srgbClr val="FFFFFF"/>
                </a:solidFill>
                <a:latin typeface="+mj-lt"/>
              </a:rPr>
              <a:t>38%</a:t>
            </a:r>
            <a:r>
              <a:rPr lang="en-IN" sz="2400" b="1" dirty="0">
                <a:solidFill>
                  <a:srgbClr val="FFFFFF"/>
                </a:solidFill>
                <a:latin typeface="+mj-lt"/>
              </a:rPr>
              <a:t> → </a:t>
            </a:r>
            <a:r>
              <a:rPr lang="en-IN" sz="2800" b="1" dirty="0">
                <a:solidFill>
                  <a:srgbClr val="FFFFFF"/>
                </a:solidFill>
                <a:latin typeface="+mj-lt"/>
              </a:rPr>
              <a:t>74%</a:t>
            </a:r>
            <a:endParaRPr lang="en-IN" sz="2400" b="1" dirty="0">
              <a:solidFill>
                <a:srgbClr val="FFFFFF"/>
              </a:solidFill>
              <a:latin typeface="+mj-lt"/>
            </a:endParaRPr>
          </a:p>
          <a:p>
            <a:pPr algn="ctr"/>
            <a:endParaRPr lang="en-IN" sz="800" b="1" dirty="0">
              <a:solidFill>
                <a:srgbClr val="C8D2E1"/>
              </a:solidFill>
              <a:latin typeface="+mj-lt"/>
            </a:endParaRPr>
          </a:p>
          <a:p>
            <a:pPr algn="ctr"/>
            <a:r>
              <a:rPr lang="en-IN" sz="1600" b="1" i="1" dirty="0">
                <a:solidFill>
                  <a:srgbClr val="2BB3D6"/>
                </a:solidFill>
                <a:latin typeface="+mj-lt"/>
              </a:rPr>
              <a:t>( +36 percentage points )</a:t>
            </a:r>
          </a:p>
        </p:txBody>
      </p:sp>
      <p:grpSp>
        <p:nvGrpSpPr>
          <p:cNvPr id="23" name="Key Insight">
            <a:extLst>
              <a:ext uri="{FF2B5EF4-FFF2-40B4-BE49-F238E27FC236}">
                <a16:creationId xmlns:a16="http://schemas.microsoft.com/office/drawing/2014/main" id="{81A27CEA-F683-2755-4F8C-7F83D80FBA27}"/>
              </a:ext>
            </a:extLst>
          </p:cNvPr>
          <p:cNvGrpSpPr/>
          <p:nvPr/>
        </p:nvGrpSpPr>
        <p:grpSpPr>
          <a:xfrm>
            <a:off x="6707970" y="4234443"/>
            <a:ext cx="4927302" cy="1345265"/>
            <a:chOff x="6734756" y="1951548"/>
            <a:chExt cx="5053564" cy="1392545"/>
          </a:xfrm>
        </p:grpSpPr>
        <p:sp>
          <p:nvSpPr>
            <p:cNvPr id="24" name="Key Insight Title">
              <a:extLst>
                <a:ext uri="{FF2B5EF4-FFF2-40B4-BE49-F238E27FC236}">
                  <a16:creationId xmlns:a16="http://schemas.microsoft.com/office/drawing/2014/main" id="{B43D022B-87E1-9788-4BBC-DB3463EAC9AE}"/>
                </a:ext>
              </a:extLst>
            </p:cNvPr>
            <p:cNvSpPr/>
            <p:nvPr/>
          </p:nvSpPr>
          <p:spPr>
            <a:xfrm>
              <a:off x="6734756" y="1951548"/>
              <a:ext cx="1448192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📈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Insight</a:t>
              </a:r>
            </a:p>
          </p:txBody>
        </p:sp>
        <p:sp>
          <p:nvSpPr>
            <p:cNvPr id="25" name="Key Insight brief">
              <a:extLst>
                <a:ext uri="{FF2B5EF4-FFF2-40B4-BE49-F238E27FC236}">
                  <a16:creationId xmlns:a16="http://schemas.microsoft.com/office/drawing/2014/main" id="{5DD4AEB8-FA45-A2BC-E3EB-E155FB9E487D}"/>
                </a:ext>
              </a:extLst>
            </p:cNvPr>
            <p:cNvSpPr/>
            <p:nvPr/>
          </p:nvSpPr>
          <p:spPr>
            <a:xfrm>
              <a:off x="7036446" y="2258007"/>
              <a:ext cx="4751874" cy="108608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C8D2E1"/>
                  </a:solidFill>
                </a:rPr>
                <a:t>Settlement rates increase steadily from 38% (18-24) to 74% (65+), indicating that older policy holders experience higher claim settlement rates.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F588FF8-6026-F6BD-4B94-39D90292B173}"/>
              </a:ext>
            </a:extLst>
          </p:cNvPr>
          <p:cNvGrpSpPr/>
          <p:nvPr/>
        </p:nvGrpSpPr>
        <p:grpSpPr>
          <a:xfrm>
            <a:off x="7317388" y="-919679"/>
            <a:ext cx="2796530" cy="2286698"/>
            <a:chOff x="7317388" y="-919679"/>
            <a:chExt cx="2796530" cy="2286698"/>
          </a:xfrm>
        </p:grpSpPr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D73D5FC8-C3B5-9266-1562-E95F469D1CE0}"/>
                </a:ext>
              </a:extLst>
            </p:cNvPr>
            <p:cNvSpPr/>
            <p:nvPr/>
          </p:nvSpPr>
          <p:spPr>
            <a:xfrm rot="16200000">
              <a:off x="7232615" y="-816242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279F8E40-23E2-1A04-4E6D-623B84D2A514}"/>
                </a:ext>
              </a:extLst>
            </p:cNvPr>
            <p:cNvSpPr/>
            <p:nvPr/>
          </p:nvSpPr>
          <p:spPr>
            <a:xfrm rot="16200000">
              <a:off x="8691839" y="-834906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D061741A-9D2F-F749-9D86-A5F08D4CCFA4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8199270" y="409966"/>
              <a:ext cx="1014105" cy="900001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929296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92"/>
    </mc:Choice>
    <mc:Fallback xmlns="">
      <p:transition spd="slow" advTm="398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2EC121-0044-BEEE-1398-E899090D5EA9}"/>
              </a:ext>
            </a:extLst>
          </p:cNvPr>
          <p:cNvGrpSpPr/>
          <p:nvPr/>
        </p:nvGrpSpPr>
        <p:grpSpPr>
          <a:xfrm>
            <a:off x="752350" y="494838"/>
            <a:ext cx="6684148" cy="949123"/>
            <a:chOff x="752350" y="494838"/>
            <a:chExt cx="6684148" cy="94912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471B1F-B9B0-2DCA-54E7-17B0092160F3}"/>
                </a:ext>
              </a:extLst>
            </p:cNvPr>
            <p:cNvSpPr/>
            <p:nvPr/>
          </p:nvSpPr>
          <p:spPr>
            <a:xfrm>
              <a:off x="752350" y="494838"/>
              <a:ext cx="6684148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Offline Agents drive the Highest Revenue</a:t>
              </a:r>
            </a:p>
            <a:p>
              <a:r>
                <a:rPr lang="en-IN" sz="1200" dirty="0"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Sales Mode Analysis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19DC43-C320-F347-E9B0-B9BC75D79890}"/>
                </a:ext>
              </a:extLst>
            </p:cNvPr>
            <p:cNvCxnSpPr/>
            <p:nvPr/>
          </p:nvCxnSpPr>
          <p:spPr>
            <a:xfrm>
              <a:off x="876713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5900017-E904-6530-D3DE-7172817314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0739129"/>
              </p:ext>
            </p:extLst>
          </p:nvPr>
        </p:nvGraphicFramePr>
        <p:xfrm>
          <a:off x="856157" y="1581150"/>
          <a:ext cx="5618176" cy="4743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0" name="Key Insight">
            <a:extLst>
              <a:ext uri="{FF2B5EF4-FFF2-40B4-BE49-F238E27FC236}">
                <a16:creationId xmlns:a16="http://schemas.microsoft.com/office/drawing/2014/main" id="{BBC72091-69B3-FB1B-CA8D-BC396318CFBC}"/>
              </a:ext>
            </a:extLst>
          </p:cNvPr>
          <p:cNvGrpSpPr/>
          <p:nvPr/>
        </p:nvGrpSpPr>
        <p:grpSpPr>
          <a:xfrm>
            <a:off x="6239813" y="3406153"/>
            <a:ext cx="5180663" cy="1127267"/>
            <a:chOff x="6734756" y="1951548"/>
            <a:chExt cx="5313417" cy="1166885"/>
          </a:xfrm>
        </p:grpSpPr>
        <p:sp>
          <p:nvSpPr>
            <p:cNvPr id="21" name="Key Insight Title">
              <a:extLst>
                <a:ext uri="{FF2B5EF4-FFF2-40B4-BE49-F238E27FC236}">
                  <a16:creationId xmlns:a16="http://schemas.microsoft.com/office/drawing/2014/main" id="{CC6012A1-ADE4-8C11-F296-DAE988CB0E96}"/>
                </a:ext>
              </a:extLst>
            </p:cNvPr>
            <p:cNvSpPr/>
            <p:nvPr/>
          </p:nvSpPr>
          <p:spPr>
            <a:xfrm>
              <a:off x="6734756" y="1951548"/>
              <a:ext cx="1448192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📈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Insight</a:t>
              </a:r>
            </a:p>
          </p:txBody>
        </p:sp>
        <p:sp>
          <p:nvSpPr>
            <p:cNvPr id="22" name="Key Insight brief">
              <a:extLst>
                <a:ext uri="{FF2B5EF4-FFF2-40B4-BE49-F238E27FC236}">
                  <a16:creationId xmlns:a16="http://schemas.microsoft.com/office/drawing/2014/main" id="{BD2146D4-B188-AAC7-157A-041FCB499C71}"/>
                </a:ext>
              </a:extLst>
            </p:cNvPr>
            <p:cNvSpPr/>
            <p:nvPr/>
          </p:nvSpPr>
          <p:spPr>
            <a:xfrm>
              <a:off x="7036446" y="2258007"/>
              <a:ext cx="5011727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FFFFFF"/>
                  </a:solidFill>
                </a:rPr>
                <a:t>Offline Agents </a:t>
              </a:r>
              <a:r>
                <a:rPr lang="en-IN" sz="1200" b="1" dirty="0">
                  <a:solidFill>
                    <a:srgbClr val="8FAADC"/>
                  </a:solidFill>
                </a:rPr>
                <a:t>are the </a:t>
              </a:r>
              <a:r>
                <a:rPr lang="en-IN" sz="1200" b="1" dirty="0">
                  <a:solidFill>
                    <a:srgbClr val="FFFFFF"/>
                  </a:solidFill>
                </a:rPr>
                <a:t>dominant </a:t>
              </a:r>
              <a:r>
                <a:rPr lang="en-IN" sz="1200" b="1" dirty="0">
                  <a:solidFill>
                    <a:srgbClr val="8FAADC"/>
                  </a:solidFill>
                </a:rPr>
                <a:t>sales channel, contributing over </a:t>
              </a:r>
              <a:r>
                <a:rPr lang="en-IN" sz="1200" b="1" dirty="0">
                  <a:solidFill>
                    <a:srgbClr val="FFFFFF"/>
                  </a:solidFill>
                </a:rPr>
                <a:t>55% </a:t>
              </a:r>
              <a:r>
                <a:rPr lang="en-IN" sz="1200" b="1" dirty="0">
                  <a:solidFill>
                    <a:srgbClr val="8FAADC"/>
                  </a:solidFill>
                </a:rPr>
                <a:t>of both </a:t>
              </a:r>
              <a:r>
                <a:rPr lang="en-IN" sz="1200" b="1" dirty="0">
                  <a:solidFill>
                    <a:srgbClr val="FFFFFF"/>
                  </a:solidFill>
                </a:rPr>
                <a:t>customers</a:t>
              </a:r>
              <a:r>
                <a:rPr lang="en-IN" sz="1200" b="1" dirty="0">
                  <a:solidFill>
                    <a:srgbClr val="8FAADC"/>
                  </a:solidFill>
                </a:rPr>
                <a:t> and </a:t>
              </a:r>
              <a:r>
                <a:rPr lang="en-IN" sz="1200" b="1" dirty="0">
                  <a:solidFill>
                    <a:srgbClr val="FFFFFF"/>
                  </a:solidFill>
                </a:rPr>
                <a:t>revenue</a:t>
              </a:r>
              <a:r>
                <a:rPr lang="en-IN" sz="1200" b="1" dirty="0">
                  <a:solidFill>
                    <a:srgbClr val="8FAADC"/>
                  </a:solidFill>
                </a:rPr>
                <a:t>.</a:t>
              </a:r>
            </a:p>
          </p:txBody>
        </p:sp>
      </p:grpSp>
      <p:grpSp>
        <p:nvGrpSpPr>
          <p:cNvPr id="23" name="Recommendation">
            <a:extLst>
              <a:ext uri="{FF2B5EF4-FFF2-40B4-BE49-F238E27FC236}">
                <a16:creationId xmlns:a16="http://schemas.microsoft.com/office/drawing/2014/main" id="{282AB998-AD74-19BA-0072-EED3A5F58774}"/>
              </a:ext>
            </a:extLst>
          </p:cNvPr>
          <p:cNvGrpSpPr/>
          <p:nvPr/>
        </p:nvGrpSpPr>
        <p:grpSpPr>
          <a:xfrm>
            <a:off x="6239812" y="4827367"/>
            <a:ext cx="5180663" cy="1114192"/>
            <a:chOff x="6734756" y="2975739"/>
            <a:chExt cx="5313418" cy="1153350"/>
          </a:xfrm>
        </p:grpSpPr>
        <p:sp>
          <p:nvSpPr>
            <p:cNvPr id="24" name="Recommendation title">
              <a:extLst>
                <a:ext uri="{FF2B5EF4-FFF2-40B4-BE49-F238E27FC236}">
                  <a16:creationId xmlns:a16="http://schemas.microsoft.com/office/drawing/2014/main" id="{32C55418-8A91-DB89-70A3-64BC4F5489F7}"/>
                </a:ext>
              </a:extLst>
            </p:cNvPr>
            <p:cNvSpPr/>
            <p:nvPr/>
          </p:nvSpPr>
          <p:spPr>
            <a:xfrm>
              <a:off x="6734756" y="2975739"/>
              <a:ext cx="1849407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⭐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Observation</a:t>
              </a:r>
            </a:p>
          </p:txBody>
        </p:sp>
        <p:sp>
          <p:nvSpPr>
            <p:cNvPr id="25" name="Recommendation brief">
              <a:extLst>
                <a:ext uri="{FF2B5EF4-FFF2-40B4-BE49-F238E27FC236}">
                  <a16:creationId xmlns:a16="http://schemas.microsoft.com/office/drawing/2014/main" id="{79FBE4FF-B47D-48A1-01E6-6B24A1BD1A4C}"/>
                </a:ext>
              </a:extLst>
            </p:cNvPr>
            <p:cNvSpPr/>
            <p:nvPr/>
          </p:nvSpPr>
          <p:spPr>
            <a:xfrm>
              <a:off x="7036446" y="3268663"/>
              <a:ext cx="5011728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8FAADC"/>
                  </a:solidFill>
                </a:rPr>
                <a:t>Offline Agents remain the leading sales channel, likely driven by personalized guidance, stronger customer trust, and higher conversion rates.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6FB12995-BBEC-8E15-FE01-058F445D7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012A2DE-71CF-925C-5DE5-F7D9BD6FC747}"/>
              </a:ext>
            </a:extLst>
          </p:cNvPr>
          <p:cNvGrpSpPr/>
          <p:nvPr/>
        </p:nvGrpSpPr>
        <p:grpSpPr>
          <a:xfrm>
            <a:off x="7317388" y="-919679"/>
            <a:ext cx="2796530" cy="2286698"/>
            <a:chOff x="7317388" y="-919679"/>
            <a:chExt cx="2796530" cy="2286698"/>
          </a:xfrm>
        </p:grpSpPr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E3FB176E-DDD2-C60D-2E20-DB5D0F7C2F53}"/>
                </a:ext>
              </a:extLst>
            </p:cNvPr>
            <p:cNvSpPr/>
            <p:nvPr/>
          </p:nvSpPr>
          <p:spPr>
            <a:xfrm rot="16200000">
              <a:off x="7232615" y="-816242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D50BF6C8-F82D-D73C-5BFB-8CB61819228A}"/>
                </a:ext>
              </a:extLst>
            </p:cNvPr>
            <p:cNvSpPr/>
            <p:nvPr/>
          </p:nvSpPr>
          <p:spPr>
            <a:xfrm rot="16200000">
              <a:off x="8691839" y="-834906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B0DE3EB5-947F-242B-4CA4-1F1F8F5739C6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8199270" y="409966"/>
              <a:ext cx="1014105" cy="900001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929296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6462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19"/>
    </mc:Choice>
    <mc:Fallback xmlns="">
      <p:transition spd="slow" advTm="314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313B0-5D84-535D-330C-46D896CA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EA2BA11C-5DF5-6F06-EFBF-779BED197E1B}"/>
              </a:ext>
            </a:extLst>
          </p:cNvPr>
          <p:cNvGrpSpPr/>
          <p:nvPr/>
        </p:nvGrpSpPr>
        <p:grpSpPr>
          <a:xfrm>
            <a:off x="752353" y="494838"/>
            <a:ext cx="5051288" cy="949123"/>
            <a:chOff x="752353" y="494838"/>
            <a:chExt cx="5051288" cy="9491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D1206B-D2BD-5C12-B909-77FDD6C4F41C}"/>
                </a:ext>
              </a:extLst>
            </p:cNvPr>
            <p:cNvSpPr/>
            <p:nvPr/>
          </p:nvSpPr>
          <p:spPr>
            <a:xfrm>
              <a:off x="752353" y="494838"/>
              <a:ext cx="5051288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Digital Channels Gain Momentum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Sales Mode Analysis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E1108D-E9BF-6B53-4881-125BE7A57CAE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61EA8EE8-64FC-287E-85AA-6C70E79F8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45150562-E332-C4E0-4653-4AFA3CF948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6561326"/>
              </p:ext>
            </p:extLst>
          </p:nvPr>
        </p:nvGraphicFramePr>
        <p:xfrm>
          <a:off x="752353" y="1951547"/>
          <a:ext cx="5130287" cy="4220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2B919E1F-1B15-18AD-7F43-97D60D01A40D}"/>
              </a:ext>
            </a:extLst>
          </p:cNvPr>
          <p:cNvGrpSpPr/>
          <p:nvPr/>
        </p:nvGrpSpPr>
        <p:grpSpPr>
          <a:xfrm>
            <a:off x="6688103" y="2669001"/>
            <a:ext cx="5105790" cy="1166885"/>
            <a:chOff x="6734756" y="1951548"/>
            <a:chExt cx="5105790" cy="116688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9A4907D-D2CE-79E7-F31A-5FEDDCB0AB02}"/>
                </a:ext>
              </a:extLst>
            </p:cNvPr>
            <p:cNvSpPr/>
            <p:nvPr/>
          </p:nvSpPr>
          <p:spPr>
            <a:xfrm>
              <a:off x="6734756" y="1951548"/>
              <a:ext cx="1448192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📈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Insight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E056691-4814-E8D0-5BC7-DFD457AA675F}"/>
                </a:ext>
              </a:extLst>
            </p:cNvPr>
            <p:cNvSpPr/>
            <p:nvPr/>
          </p:nvSpPr>
          <p:spPr>
            <a:xfrm>
              <a:off x="7036447" y="2258007"/>
              <a:ext cx="4804099" cy="86042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FFFFFF"/>
                  </a:solidFill>
                </a:rPr>
                <a:t>Online App </a:t>
              </a:r>
              <a:r>
                <a:rPr lang="en-IN" sz="1200" b="1" dirty="0">
                  <a:solidFill>
                    <a:srgbClr val="8FAADC"/>
                  </a:solidFill>
                </a:rPr>
                <a:t>and </a:t>
              </a:r>
              <a:r>
                <a:rPr lang="en-IN" sz="1200" b="1" dirty="0">
                  <a:solidFill>
                    <a:srgbClr val="FFFFFF"/>
                  </a:solidFill>
                </a:rPr>
                <a:t>Website</a:t>
              </a:r>
              <a:r>
                <a:rPr lang="en-IN" sz="1200" b="1" dirty="0">
                  <a:solidFill>
                    <a:srgbClr val="8FAADC"/>
                  </a:solidFill>
                </a:rPr>
                <a:t> channels show a consistent </a:t>
              </a:r>
              <a:r>
                <a:rPr lang="en-IN" sz="1200" b="1" dirty="0">
                  <a:solidFill>
                    <a:srgbClr val="FFFFFF"/>
                  </a:solidFill>
                </a:rPr>
                <a:t>upward trend</a:t>
              </a:r>
              <a:r>
                <a:rPr lang="en-IN" sz="1200" b="1" dirty="0">
                  <a:solidFill>
                    <a:srgbClr val="8FAADC"/>
                  </a:solidFill>
                </a:rPr>
                <a:t>, reflecting </a:t>
              </a:r>
              <a:r>
                <a:rPr lang="en-IN" sz="1200" b="1" dirty="0">
                  <a:solidFill>
                    <a:srgbClr val="FFFFFF"/>
                  </a:solidFill>
                </a:rPr>
                <a:t>increasing customer adoption </a:t>
              </a:r>
              <a:r>
                <a:rPr lang="en-IN" sz="1200" b="1" dirty="0">
                  <a:solidFill>
                    <a:srgbClr val="8FAADC"/>
                  </a:solidFill>
                </a:rPr>
                <a:t>of digital insurance purchases.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97FEF5-B26F-EC0F-34AA-2C636ED25A9A}"/>
              </a:ext>
            </a:extLst>
          </p:cNvPr>
          <p:cNvGrpSpPr/>
          <p:nvPr/>
        </p:nvGrpSpPr>
        <p:grpSpPr>
          <a:xfrm>
            <a:off x="6688103" y="4090215"/>
            <a:ext cx="5105790" cy="892332"/>
            <a:chOff x="6734756" y="2975739"/>
            <a:chExt cx="5105790" cy="892332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DC8A72E-3D34-088B-23A4-70C85E47141E}"/>
                </a:ext>
              </a:extLst>
            </p:cNvPr>
            <p:cNvSpPr/>
            <p:nvPr/>
          </p:nvSpPr>
          <p:spPr>
            <a:xfrm>
              <a:off x="6734756" y="2975739"/>
              <a:ext cx="1849407" cy="35311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dirty="0"/>
                <a:t>⭐ </a:t>
              </a:r>
              <a:r>
                <a:rPr lang="en-IN" sz="1200" dirty="0">
                  <a:solidFill>
                    <a:srgbClr val="8FAADC"/>
                  </a:solidFill>
                  <a:latin typeface="+mj-lt"/>
                </a:rPr>
                <a:t>Key Observation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11A54E7-97BD-8BEA-A30E-B489B8B01E1F}"/>
                </a:ext>
              </a:extLst>
            </p:cNvPr>
            <p:cNvSpPr/>
            <p:nvPr/>
          </p:nvSpPr>
          <p:spPr>
            <a:xfrm>
              <a:off x="7036447" y="3297640"/>
              <a:ext cx="4804099" cy="57043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200" b="1" dirty="0">
                  <a:solidFill>
                    <a:srgbClr val="8FAADC"/>
                  </a:solidFill>
                </a:rPr>
                <a:t>Improved convenience, 24/7 accessibility, and a seamless self-service experience helped digital channels surpass Offline Direct.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A0144D-204F-EC55-AFB7-42DB000E7EC2}"/>
              </a:ext>
            </a:extLst>
          </p:cNvPr>
          <p:cNvGrpSpPr/>
          <p:nvPr/>
        </p:nvGrpSpPr>
        <p:grpSpPr>
          <a:xfrm>
            <a:off x="7317388" y="-919679"/>
            <a:ext cx="2796530" cy="2286698"/>
            <a:chOff x="7317388" y="-919679"/>
            <a:chExt cx="2796530" cy="2286698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2A5FAA13-BA0C-6E33-135A-ACD2755C93F5}"/>
                </a:ext>
              </a:extLst>
            </p:cNvPr>
            <p:cNvSpPr/>
            <p:nvPr/>
          </p:nvSpPr>
          <p:spPr>
            <a:xfrm rot="16200000">
              <a:off x="7232615" y="-816242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C784A2B0-FA04-2D70-7524-15A2E934AB1D}"/>
                </a:ext>
              </a:extLst>
            </p:cNvPr>
            <p:cNvSpPr/>
            <p:nvPr/>
          </p:nvSpPr>
          <p:spPr>
            <a:xfrm rot="16200000">
              <a:off x="8691839" y="-834906"/>
              <a:ext cx="1506852" cy="1337306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E66D9BEB-0428-F979-D180-5157441F2B3E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8208601" y="409966"/>
              <a:ext cx="1014105" cy="900001"/>
            </a:xfrm>
            <a:prstGeom prst="hexagon">
              <a:avLst>
                <a:gd name="adj" fmla="val 27279"/>
                <a:gd name="vf" fmla="val 115470"/>
              </a:avLst>
            </a:prstGeom>
            <a:noFill/>
            <a:ln w="19050">
              <a:solidFill>
                <a:srgbClr val="929296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5A03A66-0AEC-8D9A-BF75-E2898996C956}"/>
              </a:ext>
            </a:extLst>
          </p:cNvPr>
          <p:cNvSpPr txBox="1"/>
          <p:nvPr/>
        </p:nvSpPr>
        <p:spPr>
          <a:xfrm>
            <a:off x="1619250" y="1714500"/>
            <a:ext cx="3257550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100" dirty="0">
                <a:solidFill>
                  <a:srgbClr val="7991C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Monthly Sales mode Trend by Revenue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823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525"/>
    </mc:Choice>
    <mc:Fallback xmlns="">
      <p:transition spd="slow" advTm="435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D2E94-82C9-AAA9-3069-64DCAEEE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967ECD5-83DD-9E9A-51A4-07AB0A7FE949}"/>
              </a:ext>
            </a:extLst>
          </p:cNvPr>
          <p:cNvGrpSpPr/>
          <p:nvPr/>
        </p:nvGrpSpPr>
        <p:grpSpPr>
          <a:xfrm>
            <a:off x="752353" y="494838"/>
            <a:ext cx="7036874" cy="949123"/>
            <a:chOff x="752353" y="494838"/>
            <a:chExt cx="7036874" cy="94912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F39C37-4A33-597C-506B-5AA66EACECBB}"/>
                </a:ext>
              </a:extLst>
            </p:cNvPr>
            <p:cNvSpPr/>
            <p:nvPr/>
          </p:nvSpPr>
          <p:spPr>
            <a:xfrm>
              <a:off x="752353" y="494838"/>
              <a:ext cx="7036874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Target Policy Marketing by Age Group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Strategic Recommendations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B8EE9EC-466D-C874-5234-6DA3D0BA1B43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7A74886-3C0A-47CB-2AE5-6E6C534A1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E845341-B7D4-AEA7-081B-ABA4DDE274E4}"/>
              </a:ext>
            </a:extLst>
          </p:cNvPr>
          <p:cNvGrpSpPr/>
          <p:nvPr/>
        </p:nvGrpSpPr>
        <p:grpSpPr>
          <a:xfrm>
            <a:off x="10506268" y="4920041"/>
            <a:ext cx="2007193" cy="2471994"/>
            <a:chOff x="10174604" y="4663440"/>
            <a:chExt cx="2338858" cy="2728595"/>
          </a:xfrm>
        </p:grpSpPr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7714B70F-1812-68F5-6184-2BD48FC8189C}"/>
                </a:ext>
              </a:extLst>
            </p:cNvPr>
            <p:cNvSpPr/>
            <p:nvPr/>
          </p:nvSpPr>
          <p:spPr>
            <a:xfrm rot="5400000">
              <a:off x="10511786" y="4702811"/>
              <a:ext cx="685803" cy="607061"/>
            </a:xfrm>
            <a:prstGeom prst="hexagon">
              <a:avLst>
                <a:gd name="adj" fmla="val 28138"/>
                <a:gd name="vf" fmla="val 115470"/>
              </a:avLst>
            </a:prstGeom>
            <a:solidFill>
              <a:schemeClr val="accent5">
                <a:lumMod val="40000"/>
                <a:lumOff val="6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6D23F0D2-2F68-ECC2-DFC6-12F8FAD7849C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0388800" y="5267374"/>
              <a:ext cx="2260597" cy="1988726"/>
            </a:xfrm>
            <a:prstGeom prst="hexagon">
              <a:avLst>
                <a:gd name="adj" fmla="val 28138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8BED1AA6-EFE7-3CB8-112A-DBE02EEE5E81}"/>
                </a:ext>
              </a:extLst>
            </p:cNvPr>
            <p:cNvSpPr/>
            <p:nvPr/>
          </p:nvSpPr>
          <p:spPr>
            <a:xfrm rot="5400000">
              <a:off x="10123170" y="5400680"/>
              <a:ext cx="855344" cy="752476"/>
            </a:xfrm>
            <a:prstGeom prst="hexagon">
              <a:avLst>
                <a:gd name="adj" fmla="val 28138"/>
                <a:gd name="vf" fmla="val 115470"/>
              </a:avLst>
            </a:prstGeom>
            <a:solidFill>
              <a:srgbClr val="4472C4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B2F4C7-41D2-CC22-A532-F56AD062B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82182"/>
              </p:ext>
            </p:extLst>
          </p:nvPr>
        </p:nvGraphicFramePr>
        <p:xfrm>
          <a:off x="848719" y="2197138"/>
          <a:ext cx="5104212" cy="259836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249669">
                  <a:extLst>
                    <a:ext uri="{9D8B030D-6E8A-4147-A177-3AD203B41FA5}">
                      <a16:colId xmlns:a16="http://schemas.microsoft.com/office/drawing/2014/main" val="348448481"/>
                    </a:ext>
                  </a:extLst>
                </a:gridCol>
                <a:gridCol w="3854543">
                  <a:extLst>
                    <a:ext uri="{9D8B030D-6E8A-4147-A177-3AD203B41FA5}">
                      <a16:colId xmlns:a16="http://schemas.microsoft.com/office/drawing/2014/main" val="983808954"/>
                    </a:ext>
                  </a:extLst>
                </a:gridCol>
              </a:tblGrid>
              <a:tr h="64959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7991CE"/>
                          </a:solidFill>
                        </a:rPr>
                        <a:t>Age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7991CE"/>
                          </a:solidFill>
                        </a:rPr>
                        <a:t>Marketing Focus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058805"/>
                  </a:ext>
                </a:extLst>
              </a:tr>
              <a:tr h="649592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B3BEDF"/>
                          </a:solidFill>
                        </a:rPr>
                        <a:t>18-30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B3BEDF"/>
                          </a:solidFill>
                        </a:rPr>
                        <a:t>Entry-level &amp; Affordable policies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989106"/>
                  </a:ext>
                </a:extLst>
              </a:tr>
              <a:tr h="649592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B3BEDF"/>
                          </a:solidFill>
                        </a:rPr>
                        <a:t>31-50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B3BEDF"/>
                          </a:solidFill>
                        </a:rPr>
                        <a:t>Family protection &amp; Health plans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476846"/>
                  </a:ext>
                </a:extLst>
              </a:tr>
              <a:tr h="649592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B3BEDF"/>
                          </a:solidFill>
                        </a:rPr>
                        <a:t>51+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B3BEDF"/>
                          </a:solidFill>
                        </a:rPr>
                        <a:t>Comprehensive &amp; High-Coverage policies</a:t>
                      </a:r>
                      <a:endParaRPr lang="en-IN" sz="1400" dirty="0">
                        <a:solidFill>
                          <a:srgbClr val="B3BED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362313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8FCA5E8B-51F3-533A-5D0C-5C7CAE3CC0C3}"/>
              </a:ext>
            </a:extLst>
          </p:cNvPr>
          <p:cNvGrpSpPr/>
          <p:nvPr/>
        </p:nvGrpSpPr>
        <p:grpSpPr>
          <a:xfrm>
            <a:off x="6858480" y="2467513"/>
            <a:ext cx="3657121" cy="2057618"/>
            <a:chOff x="6858480" y="2393084"/>
            <a:chExt cx="3657121" cy="205761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A15D90F-2291-12AC-71C9-84BF9F57BEF3}"/>
                </a:ext>
              </a:extLst>
            </p:cNvPr>
            <p:cNvSpPr/>
            <p:nvPr/>
          </p:nvSpPr>
          <p:spPr>
            <a:xfrm>
              <a:off x="7087578" y="2393084"/>
              <a:ext cx="3428023" cy="20576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200000"/>
                </a:lnSpc>
              </a:pPr>
              <a:r>
                <a:rPr lang="en-IN" sz="1600" dirty="0">
                  <a:solidFill>
                    <a:srgbClr val="7991CE"/>
                  </a:solidFill>
                </a:rPr>
                <a:t>Expected Outcomes</a:t>
              </a:r>
              <a:endParaRPr lang="en-IN" sz="800" dirty="0"/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en-IN" sz="1400" b="1" dirty="0"/>
                <a:t>Higher marketing effectiveness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en-IN" sz="1400" b="1" dirty="0"/>
                <a:t>Improved policy conversion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en-IN" sz="1400" b="1" dirty="0"/>
                <a:t>Better customer satisfaction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AD629D-54E1-A634-2377-35A6E6D1F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480" y="2618987"/>
              <a:ext cx="235974" cy="23597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5207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257"/>
    </mc:Choice>
    <mc:Fallback xmlns="">
      <p:transition spd="slow" advTm="622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F6EA9D-7280-49B6-755F-B514A0A0D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C39B6D3-AEFE-FB3C-F2C8-D40C293B5A1B}"/>
              </a:ext>
            </a:extLst>
          </p:cNvPr>
          <p:cNvGrpSpPr/>
          <p:nvPr/>
        </p:nvGrpSpPr>
        <p:grpSpPr>
          <a:xfrm>
            <a:off x="752353" y="494838"/>
            <a:ext cx="8615582" cy="949123"/>
            <a:chOff x="752353" y="494838"/>
            <a:chExt cx="8615582" cy="94912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E0ADC5-ED98-9044-CA3B-3767C055D642}"/>
                </a:ext>
              </a:extLst>
            </p:cNvPr>
            <p:cNvSpPr/>
            <p:nvPr/>
          </p:nvSpPr>
          <p:spPr>
            <a:xfrm>
              <a:off x="752353" y="494838"/>
              <a:ext cx="8615582" cy="949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Scale Customer Acquisition through Omnichannel Strategy</a:t>
              </a:r>
            </a:p>
            <a:p>
              <a:r>
                <a:rPr lang="en-IN" sz="1200" dirty="0">
                  <a:solidFill>
                    <a:srgbClr val="7991CE"/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Strategic Recommendations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6E82E05-7380-1729-B611-42D4C43C2639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8A6B776-B589-B8A5-447E-F1B0DBDE2B8C}"/>
              </a:ext>
            </a:extLst>
          </p:cNvPr>
          <p:cNvSpPr/>
          <p:nvPr/>
        </p:nvSpPr>
        <p:spPr>
          <a:xfrm>
            <a:off x="752353" y="2034077"/>
            <a:ext cx="5635691" cy="14742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/>
              <a:t>📱 Expand Digital Lead Generation</a:t>
            </a:r>
          </a:p>
          <a:p>
            <a:endParaRPr lang="en-IN" sz="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B3BEDF"/>
                </a:solidFill>
              </a:rPr>
              <a:t>Increase investment in Online App and Website campaigns.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B3BEDF"/>
                </a:solidFill>
              </a:rPr>
              <a:t>Focus on attracting younger (18-30 age), digitally active customers.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DA46C6-0199-4562-265C-38CA14420344}"/>
              </a:ext>
            </a:extLst>
          </p:cNvPr>
          <p:cNvSpPr/>
          <p:nvPr/>
        </p:nvSpPr>
        <p:spPr>
          <a:xfrm>
            <a:off x="752353" y="3508310"/>
            <a:ext cx="5635691" cy="14742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🤝 </a:t>
            </a:r>
            <a:r>
              <a:rPr lang="en-IN" sz="1600" b="1" dirty="0"/>
              <a:t>Agent-Assisted Conversion</a:t>
            </a:r>
          </a:p>
          <a:p>
            <a:endParaRPr lang="en-IN" sz="9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B3BEDF"/>
                </a:solidFill>
              </a:rPr>
              <a:t>Route digital leads to Offline Agents for personalized consultation.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B3BEDF"/>
                </a:solidFill>
              </a:rPr>
              <a:t>Preserve the high conversion advantage of offline agents</a:t>
            </a:r>
            <a:r>
              <a:rPr lang="en-IN" sz="1400" dirty="0">
                <a:solidFill>
                  <a:srgbClr val="B3BEDF"/>
                </a:solidFill>
              </a:rPr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151EFD5-CD3B-F7D6-7F4B-A22F899E59FF}"/>
              </a:ext>
            </a:extLst>
          </p:cNvPr>
          <p:cNvGrpSpPr/>
          <p:nvPr/>
        </p:nvGrpSpPr>
        <p:grpSpPr>
          <a:xfrm>
            <a:off x="7073085" y="2302114"/>
            <a:ext cx="3657121" cy="2412392"/>
            <a:chOff x="6858480" y="2393084"/>
            <a:chExt cx="3657121" cy="241239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BD7A1ED-CAED-F2DE-C102-EF94BFFDF8E7}"/>
                </a:ext>
              </a:extLst>
            </p:cNvPr>
            <p:cNvSpPr/>
            <p:nvPr/>
          </p:nvSpPr>
          <p:spPr>
            <a:xfrm>
              <a:off x="7087578" y="2393084"/>
              <a:ext cx="3428023" cy="24123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200000"/>
                </a:lnSpc>
              </a:pPr>
              <a:r>
                <a:rPr lang="en-IN" sz="1600" dirty="0">
                  <a:solidFill>
                    <a:srgbClr val="7991CE"/>
                  </a:solidFill>
                </a:rPr>
                <a:t>Expected Outcomes</a:t>
              </a:r>
              <a:endParaRPr lang="en-IN" sz="800" dirty="0"/>
            </a:p>
            <a:p>
              <a:pPr>
                <a:lnSpc>
                  <a:spcPct val="200000"/>
                </a:lnSpc>
              </a:pPr>
              <a:r>
                <a:rPr lang="en-IN" sz="1400" dirty="0"/>
                <a:t>📈 </a:t>
              </a:r>
              <a:r>
                <a:rPr lang="en-IN" sz="1400" b="1" dirty="0"/>
                <a:t>Higher Customer Acquisition</a:t>
              </a:r>
            </a:p>
            <a:p>
              <a:pPr>
                <a:lnSpc>
                  <a:spcPct val="200000"/>
                </a:lnSpc>
              </a:pPr>
              <a:r>
                <a:rPr lang="en-IN" sz="1400" dirty="0"/>
                <a:t>💰 </a:t>
              </a:r>
              <a:r>
                <a:rPr lang="en-IN" sz="1400" b="1" dirty="0"/>
                <a:t>Revenue Growth</a:t>
              </a:r>
            </a:p>
            <a:p>
              <a:pPr>
                <a:lnSpc>
                  <a:spcPct val="200000"/>
                </a:lnSpc>
              </a:pPr>
              <a:r>
                <a:rPr lang="en-IN" sz="1400" dirty="0"/>
                <a:t>⚡ </a:t>
              </a:r>
              <a:r>
                <a:rPr lang="en-IN" sz="1400" b="1" dirty="0"/>
                <a:t>Improved Sales Efficiency</a:t>
              </a:r>
            </a:p>
            <a:p>
              <a:pPr>
                <a:lnSpc>
                  <a:spcPct val="200000"/>
                </a:lnSpc>
              </a:pPr>
              <a:r>
                <a:rPr lang="en-IN" sz="1400" dirty="0"/>
                <a:t>🔄 </a:t>
              </a:r>
              <a:r>
                <a:rPr lang="en-IN" sz="1400" b="1" dirty="0"/>
                <a:t>Sustainable Long-Term Growth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36C3F97-C47D-5285-D84E-271508B11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480" y="2618987"/>
              <a:ext cx="235974" cy="235974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8817AC-738A-BD4A-17DE-6A8453AF2224}"/>
              </a:ext>
            </a:extLst>
          </p:cNvPr>
          <p:cNvGrpSpPr/>
          <p:nvPr/>
        </p:nvGrpSpPr>
        <p:grpSpPr>
          <a:xfrm>
            <a:off x="10506268" y="4920041"/>
            <a:ext cx="2007193" cy="2471994"/>
            <a:chOff x="10174604" y="4663440"/>
            <a:chExt cx="2338858" cy="2728595"/>
          </a:xfrm>
        </p:grpSpPr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52C9D584-52F9-6150-DC97-E633E4BBEFAC}"/>
                </a:ext>
              </a:extLst>
            </p:cNvPr>
            <p:cNvSpPr/>
            <p:nvPr/>
          </p:nvSpPr>
          <p:spPr>
            <a:xfrm rot="5400000">
              <a:off x="10511786" y="4702811"/>
              <a:ext cx="685803" cy="607061"/>
            </a:xfrm>
            <a:prstGeom prst="hexagon">
              <a:avLst>
                <a:gd name="adj" fmla="val 28138"/>
                <a:gd name="vf" fmla="val 115470"/>
              </a:avLst>
            </a:prstGeom>
            <a:solidFill>
              <a:schemeClr val="accent5">
                <a:lumMod val="40000"/>
                <a:lumOff val="6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788C7E5D-B86C-637A-4269-7719B4881BD5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0388800" y="5267374"/>
              <a:ext cx="2260597" cy="1988726"/>
            </a:xfrm>
            <a:prstGeom prst="hexagon">
              <a:avLst>
                <a:gd name="adj" fmla="val 28138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472289A0-897D-E77B-864A-1DB6064D4DAA}"/>
                </a:ext>
              </a:extLst>
            </p:cNvPr>
            <p:cNvSpPr/>
            <p:nvPr/>
          </p:nvSpPr>
          <p:spPr>
            <a:xfrm rot="5400000">
              <a:off x="10123170" y="5400680"/>
              <a:ext cx="855344" cy="752476"/>
            </a:xfrm>
            <a:prstGeom prst="hexagon">
              <a:avLst>
                <a:gd name="adj" fmla="val 28138"/>
                <a:gd name="vf" fmla="val 115470"/>
              </a:avLst>
            </a:prstGeom>
            <a:solidFill>
              <a:srgbClr val="4472C4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A9836C-B13E-3456-F771-13292EDF4DC0}"/>
              </a:ext>
            </a:extLst>
          </p:cNvPr>
          <p:cNvCxnSpPr>
            <a:cxnSpLocks/>
          </p:cNvCxnSpPr>
          <p:nvPr/>
        </p:nvCxnSpPr>
        <p:spPr>
          <a:xfrm>
            <a:off x="6820678" y="2118051"/>
            <a:ext cx="0" cy="2780518"/>
          </a:xfrm>
          <a:prstGeom prst="line">
            <a:avLst/>
          </a:prstGeom>
          <a:ln w="6350">
            <a:solidFill>
              <a:srgbClr val="2D4566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0531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306"/>
    </mc:Choice>
    <mc:Fallback xmlns="">
      <p:transition spd="slow" advTm="603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539C3-892E-4F34-D13E-3C90C8EE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63BA9C-B1CC-11B6-25B4-859DE024B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A4F96C-D91B-6677-8130-3F0E4FA7B386}"/>
              </a:ext>
            </a:extLst>
          </p:cNvPr>
          <p:cNvSpPr/>
          <p:nvPr/>
        </p:nvSpPr>
        <p:spPr>
          <a:xfrm>
            <a:off x="752353" y="1667085"/>
            <a:ext cx="6209881" cy="1326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/>
              <a:t>👥 Customer Strategy</a:t>
            </a:r>
          </a:p>
          <a:p>
            <a:endParaRPr lang="en-IN" sz="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B3BEDF"/>
                </a:solidFill>
              </a:rPr>
              <a:t>Customer needs evolve with age, making age-specific product positioning essential for maximizing policy adoption and customer value.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2DC1B-C420-D90E-6193-60C4FF0CDC1D}"/>
              </a:ext>
            </a:extLst>
          </p:cNvPr>
          <p:cNvSpPr/>
          <p:nvPr/>
        </p:nvSpPr>
        <p:spPr>
          <a:xfrm>
            <a:off x="752353" y="3189879"/>
            <a:ext cx="6209881" cy="1326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/>
              <a:t>🌐 Channel Strategy</a:t>
            </a:r>
          </a:p>
          <a:p>
            <a:endParaRPr lang="en-IN" sz="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B3BEDF"/>
                </a:solidFill>
              </a:rPr>
              <a:t>A digital-first, agent-assisted sales model can accelerate customer acquisition while preserving the high conversion strength of Offline Agents.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8F7908-E4C1-68B5-5635-FE48A649DAA0}"/>
              </a:ext>
            </a:extLst>
          </p:cNvPr>
          <p:cNvSpPr/>
          <p:nvPr/>
        </p:nvSpPr>
        <p:spPr>
          <a:xfrm>
            <a:off x="752353" y="4712673"/>
            <a:ext cx="6209881" cy="1326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/>
              <a:t>📈 Growth Strategy</a:t>
            </a:r>
          </a:p>
          <a:p>
            <a:endParaRPr lang="en-IN" sz="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B3BEDF"/>
                </a:solidFill>
              </a:rPr>
              <a:t>Expanding successful acquisition strategies across markets can improve penetration and drive sustainable long-term revenue growth.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327AB1-8C43-01E2-E6BD-C5EC54EC38C1}"/>
              </a:ext>
            </a:extLst>
          </p:cNvPr>
          <p:cNvGrpSpPr/>
          <p:nvPr/>
        </p:nvGrpSpPr>
        <p:grpSpPr>
          <a:xfrm>
            <a:off x="752353" y="494839"/>
            <a:ext cx="8615582" cy="900000"/>
            <a:chOff x="752353" y="494839"/>
            <a:chExt cx="8615582" cy="94912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85E865-69AD-F47A-33DA-BE34ECB1D931}"/>
                </a:ext>
              </a:extLst>
            </p:cNvPr>
            <p:cNvSpPr/>
            <p:nvPr/>
          </p:nvSpPr>
          <p:spPr>
            <a:xfrm>
              <a:off x="752353" y="494839"/>
              <a:ext cx="8615582" cy="90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200" b="1" dirty="0">
                  <a:solidFill>
                    <a:srgbClr val="FFFFFF"/>
                  </a:solidFill>
                  <a:latin typeface="+mj-lt"/>
                </a:rPr>
                <a:t>Key Business Takeaways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9BE517B-E972-6FEF-186C-37E3E5967950}"/>
                </a:ext>
              </a:extLst>
            </p:cNvPr>
            <p:cNvCxnSpPr/>
            <p:nvPr/>
          </p:nvCxnSpPr>
          <p:spPr>
            <a:xfrm>
              <a:off x="848720" y="1443961"/>
              <a:ext cx="652272" cy="0"/>
            </a:xfrm>
            <a:prstGeom prst="line">
              <a:avLst/>
            </a:prstGeom>
            <a:ln>
              <a:solidFill>
                <a:srgbClr val="0D6ABF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B23EF5-6B96-00F8-1EFA-CAAFB17C80C0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199980" y="1350577"/>
            <a:ext cx="3136928" cy="5360207"/>
            <a:chOff x="-1154866" y="250719"/>
            <a:chExt cx="4103806" cy="7012352"/>
          </a:xfrm>
        </p:grpSpPr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8806529E-7E2C-1EAC-5F92-08477AF6E29F}"/>
                </a:ext>
              </a:extLst>
            </p:cNvPr>
            <p:cNvSpPr/>
            <p:nvPr/>
          </p:nvSpPr>
          <p:spPr>
            <a:xfrm rot="5400000">
              <a:off x="1095881" y="1801824"/>
              <a:ext cx="1740233" cy="1539549"/>
            </a:xfrm>
            <a:prstGeom prst="hexagon">
              <a:avLst>
                <a:gd name="adj" fmla="val 27970"/>
                <a:gd name="vf" fmla="val 115470"/>
              </a:avLst>
            </a:prstGeom>
            <a:noFill/>
            <a:ln w="19050">
              <a:solidFill>
                <a:srgbClr val="AFABAB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A6EBC6B3-14DA-B24B-9451-73201761251E}"/>
                </a:ext>
              </a:extLst>
            </p:cNvPr>
            <p:cNvSpPr/>
            <p:nvPr/>
          </p:nvSpPr>
          <p:spPr>
            <a:xfrm rot="5400000">
              <a:off x="228852" y="351061"/>
              <a:ext cx="1740233" cy="1539549"/>
            </a:xfrm>
            <a:prstGeom prst="hexagon">
              <a:avLst>
                <a:gd name="adj" fmla="val 27970"/>
                <a:gd name="vf" fmla="val 115470"/>
              </a:avLst>
            </a:prstGeom>
            <a:solidFill>
              <a:srgbClr val="4472C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BDFED7B8-DF89-7AAC-8FAE-9CC59FE6E8C7}"/>
                </a:ext>
              </a:extLst>
            </p:cNvPr>
            <p:cNvSpPr/>
            <p:nvPr/>
          </p:nvSpPr>
          <p:spPr>
            <a:xfrm rot="5400000">
              <a:off x="-1421668" y="3119222"/>
              <a:ext cx="3698243" cy="3164640"/>
            </a:xfrm>
            <a:prstGeom prst="hexagon">
              <a:avLst>
                <a:gd name="adj" fmla="val 28973"/>
                <a:gd name="vf" fmla="val 115470"/>
              </a:avLst>
            </a:prstGeom>
            <a:solidFill>
              <a:srgbClr val="12254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E2B8AA0B-C83C-31BB-0D61-FD58DFF9EF0F}"/>
                </a:ext>
              </a:extLst>
            </p:cNvPr>
            <p:cNvSpPr/>
            <p:nvPr/>
          </p:nvSpPr>
          <p:spPr>
            <a:xfrm rot="5400000">
              <a:off x="2212338" y="4752341"/>
              <a:ext cx="797563" cy="675640"/>
            </a:xfrm>
            <a:prstGeom prst="hexagon">
              <a:avLst>
                <a:gd name="adj" fmla="val 29725"/>
                <a:gd name="vf" fmla="val 115470"/>
              </a:avLst>
            </a:prstGeom>
            <a:solidFill>
              <a:srgbClr val="8FAAD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ACFC600B-BBA9-F24F-38C2-9E1C21B850BE}"/>
                </a:ext>
              </a:extLst>
            </p:cNvPr>
            <p:cNvSpPr/>
            <p:nvPr/>
          </p:nvSpPr>
          <p:spPr>
            <a:xfrm rot="5400000">
              <a:off x="512120" y="5397752"/>
              <a:ext cx="2012890" cy="1717747"/>
            </a:xfrm>
            <a:prstGeom prst="hexagon">
              <a:avLst>
                <a:gd name="adj" fmla="val 29725"/>
                <a:gd name="vf" fmla="val 115470"/>
              </a:avLst>
            </a:prstGeom>
            <a:noFill/>
            <a:ln w="19050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9505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168"/>
    </mc:Choice>
    <mc:Fallback xmlns="">
      <p:transition spd="slow" advTm="541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539C3-892E-4F34-D13E-3C90C8EE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63BA9C-B1CC-11B6-25B4-859DE024B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16" y="213343"/>
            <a:ext cx="900000" cy="900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B5E511D-DA0F-D0F1-DA24-95D6A9498FD3}"/>
              </a:ext>
            </a:extLst>
          </p:cNvPr>
          <p:cNvGrpSpPr/>
          <p:nvPr/>
        </p:nvGrpSpPr>
        <p:grpSpPr>
          <a:xfrm>
            <a:off x="-773047" y="-238760"/>
            <a:ext cx="8563820" cy="7473027"/>
            <a:chOff x="-773047" y="-238760"/>
            <a:chExt cx="8563820" cy="7473027"/>
          </a:xfrm>
        </p:grpSpPr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B8E026D7-1483-E70E-8191-973ED2C5E1A9}"/>
                </a:ext>
              </a:extLst>
            </p:cNvPr>
            <p:cNvSpPr/>
            <p:nvPr/>
          </p:nvSpPr>
          <p:spPr>
            <a:xfrm>
              <a:off x="409576" y="-238760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4472C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1722D584-7F28-2627-9B82-2C6F708E8195}"/>
                </a:ext>
              </a:extLst>
            </p:cNvPr>
            <p:cNvSpPr/>
            <p:nvPr/>
          </p:nvSpPr>
          <p:spPr>
            <a:xfrm>
              <a:off x="1578103" y="452374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85A3C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36E47591-0141-ED39-919D-451039DDEB51}"/>
                </a:ext>
              </a:extLst>
            </p:cNvPr>
            <p:cNvSpPr/>
            <p:nvPr/>
          </p:nvSpPr>
          <p:spPr>
            <a:xfrm>
              <a:off x="405766" y="1135888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12254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B75C8191-BBF6-3A1B-EACF-674B508B8B40}"/>
                </a:ext>
              </a:extLst>
            </p:cNvPr>
            <p:cNvSpPr/>
            <p:nvPr/>
          </p:nvSpPr>
          <p:spPr>
            <a:xfrm>
              <a:off x="1578932" y="1808360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DCE9F7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B10E4B3D-FF7A-8B7D-5C10-7D64756306F7}"/>
                </a:ext>
              </a:extLst>
            </p:cNvPr>
            <p:cNvSpPr/>
            <p:nvPr/>
          </p:nvSpPr>
          <p:spPr>
            <a:xfrm>
              <a:off x="398146" y="2510536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334D6A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AFCF6B65-D12D-D674-7657-62A04003288A}"/>
                </a:ext>
              </a:extLst>
            </p:cNvPr>
            <p:cNvSpPr/>
            <p:nvPr/>
          </p:nvSpPr>
          <p:spPr>
            <a:xfrm>
              <a:off x="2762834" y="3878327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334D6A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34E387E8-0384-0AA8-9B5B-163CA19C05DD}"/>
                </a:ext>
              </a:extLst>
            </p:cNvPr>
            <p:cNvSpPr/>
            <p:nvPr/>
          </p:nvSpPr>
          <p:spPr>
            <a:xfrm>
              <a:off x="3946680" y="3197113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4472C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84DACC63-730A-4079-2CB4-3AF08F71B4EF}"/>
                </a:ext>
              </a:extLst>
            </p:cNvPr>
            <p:cNvSpPr/>
            <p:nvPr/>
          </p:nvSpPr>
          <p:spPr>
            <a:xfrm>
              <a:off x="3956011" y="4578203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85A3C4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581C726A-FE85-FD73-4D31-B4BE920E492D}"/>
                </a:ext>
              </a:extLst>
            </p:cNvPr>
            <p:cNvSpPr/>
            <p:nvPr/>
          </p:nvSpPr>
          <p:spPr>
            <a:xfrm>
              <a:off x="2781496" y="5240755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solidFill>
              <a:srgbClr val="12254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3B3C9F9E-7C92-7780-298B-0A556D06AD39}"/>
                </a:ext>
              </a:extLst>
            </p:cNvPr>
            <p:cNvSpPr/>
            <p:nvPr/>
          </p:nvSpPr>
          <p:spPr>
            <a:xfrm>
              <a:off x="3953471" y="5948251"/>
              <a:ext cx="1459230" cy="1272540"/>
            </a:xfrm>
            <a:prstGeom prst="hexagon">
              <a:avLst>
                <a:gd name="adj" fmla="val 28044"/>
                <a:gd name="vf" fmla="val 115470"/>
              </a:avLst>
            </a:prstGeom>
            <a:solidFill>
              <a:srgbClr val="DCE9F7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03287128-FF08-E7C2-8953-AC8755464442}"/>
                </a:ext>
              </a:extLst>
            </p:cNvPr>
            <p:cNvSpPr/>
            <p:nvPr/>
          </p:nvSpPr>
          <p:spPr>
            <a:xfrm>
              <a:off x="5149188" y="5258147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noFill/>
            <a:ln w="19050">
              <a:solidFill>
                <a:srgbClr val="8FAADC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3CCDBE47-5C80-B2E9-BE7D-1A03C7A2A07E}"/>
                </a:ext>
              </a:extLst>
            </p:cNvPr>
            <p:cNvSpPr/>
            <p:nvPr/>
          </p:nvSpPr>
          <p:spPr>
            <a:xfrm>
              <a:off x="6331543" y="5961727"/>
              <a:ext cx="1459230" cy="1272540"/>
            </a:xfrm>
            <a:prstGeom prst="hexagon">
              <a:avLst>
                <a:gd name="adj" fmla="val 28443"/>
                <a:gd name="vf" fmla="val 115470"/>
              </a:avLst>
            </a:prstGeom>
            <a:noFill/>
            <a:ln w="19050">
              <a:solidFill>
                <a:srgbClr val="122542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6B713EE8-34A9-3E72-F9CA-55E6EE8C2127}"/>
                </a:ext>
              </a:extLst>
            </p:cNvPr>
            <p:cNvSpPr/>
            <p:nvPr/>
          </p:nvSpPr>
          <p:spPr>
            <a:xfrm>
              <a:off x="2761429" y="2492157"/>
              <a:ext cx="1459230" cy="1312763"/>
            </a:xfrm>
            <a:prstGeom prst="hexagon">
              <a:avLst>
                <a:gd name="adj" fmla="val 28443"/>
                <a:gd name="vf" fmla="val 115470"/>
              </a:avLst>
            </a:prstGeom>
            <a:noFill/>
            <a:ln w="19050">
              <a:solidFill>
                <a:srgbClr val="1225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248E45A8-258B-4DB7-3018-DF0721D16A5F}"/>
                </a:ext>
              </a:extLst>
            </p:cNvPr>
            <p:cNvSpPr/>
            <p:nvPr/>
          </p:nvSpPr>
          <p:spPr>
            <a:xfrm>
              <a:off x="1580008" y="3178974"/>
              <a:ext cx="1459230" cy="1272541"/>
            </a:xfrm>
            <a:prstGeom prst="hexagon">
              <a:avLst>
                <a:gd name="adj" fmla="val 28443"/>
                <a:gd name="vf" fmla="val 115470"/>
              </a:avLst>
            </a:prstGeom>
            <a:noFill/>
            <a:ln w="19050">
              <a:solidFill>
                <a:srgbClr val="DCE9F7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8ACDD7A-3E29-93AC-5174-6B01C6F978F6}"/>
                </a:ext>
              </a:extLst>
            </p:cNvPr>
            <p:cNvSpPr/>
            <p:nvPr/>
          </p:nvSpPr>
          <p:spPr>
            <a:xfrm>
              <a:off x="-767715" y="1813413"/>
              <a:ext cx="1459230" cy="1272541"/>
            </a:xfrm>
            <a:prstGeom prst="hexagon">
              <a:avLst>
                <a:gd name="adj" fmla="val 28443"/>
                <a:gd name="vf" fmla="val 115470"/>
              </a:avLst>
            </a:prstGeom>
            <a:noFill/>
            <a:ln w="19050">
              <a:solidFill>
                <a:srgbClr val="DCE9F7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F32F691B-12B7-1DDB-5A52-038D2ABAECDE}"/>
                </a:ext>
              </a:extLst>
            </p:cNvPr>
            <p:cNvSpPr/>
            <p:nvPr/>
          </p:nvSpPr>
          <p:spPr>
            <a:xfrm>
              <a:off x="-773047" y="447000"/>
              <a:ext cx="1459230" cy="1272541"/>
            </a:xfrm>
            <a:prstGeom prst="hexagon">
              <a:avLst>
                <a:gd name="adj" fmla="val 28443"/>
                <a:gd name="vf" fmla="val 115470"/>
              </a:avLst>
            </a:prstGeom>
            <a:noFill/>
            <a:ln w="19050">
              <a:solidFill>
                <a:srgbClr val="8FAADC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6" name="Title 23">
            <a:extLst>
              <a:ext uri="{FF2B5EF4-FFF2-40B4-BE49-F238E27FC236}">
                <a16:creationId xmlns:a16="http://schemas.microsoft.com/office/drawing/2014/main" id="{65C1AA88-86D9-DBAA-D94F-02E9E964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2052320"/>
            <a:ext cx="2928090" cy="782320"/>
          </a:xfrm>
        </p:spPr>
        <p:txBody>
          <a:bodyPr>
            <a:normAutofit/>
          </a:bodyPr>
          <a:lstStyle/>
          <a:p>
            <a:r>
              <a:rPr lang="en-US" sz="4000" dirty="0"/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731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08"/>
    </mc:Choice>
    <mc:Fallback xmlns="">
      <p:transition spd="slow" advTm="110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5.7|5.3|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15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7.7|12|19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1.1|16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3.4|16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18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.3|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0.9|1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25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36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18.4|1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14.8|16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14.8|16.3"/>
</p:tagLst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6487</TotalTime>
  <Words>778</Words>
  <Application>Microsoft Office PowerPoint</Application>
  <PresentationFormat>Widescreen</PresentationFormat>
  <Paragraphs>168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等线</vt:lpstr>
      <vt:lpstr>Abadi</vt:lpstr>
      <vt:lpstr>Arial</vt:lpstr>
      <vt:lpstr>Calibri</vt:lpstr>
      <vt:lpstr>Calibri Light</vt:lpstr>
      <vt:lpstr>Posterama</vt:lpstr>
      <vt:lpstr>Posterama Text SemiBold</vt:lpstr>
      <vt:lpstr>Wingdings</vt:lpstr>
      <vt:lpstr>Custom</vt:lpstr>
      <vt:lpstr>Shield Insurance Customer Insights &amp; Sales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Ankush Patil</dc:creator>
  <cp:lastModifiedBy>Ankush Patil</cp:lastModifiedBy>
  <cp:revision>27</cp:revision>
  <dcterms:created xsi:type="dcterms:W3CDTF">2026-07-22T16:13:30Z</dcterms:created>
  <dcterms:modified xsi:type="dcterms:W3CDTF">2026-08-02T12:44:11Z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